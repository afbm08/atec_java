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 bookmarkIdSeed="2">
  <p:sldMasterIdLst>
    <p:sldMasterId id="2147483648" r:id="rId1"/>
  </p:sldMasterIdLst>
  <p:notesMasterIdLst>
    <p:notesMasterId r:id="rId51"/>
  </p:notesMasterIdLst>
  <p:handoutMasterIdLst>
    <p:handoutMasterId r:id="rId52"/>
  </p:handoutMasterIdLst>
  <p:sldIdLst>
    <p:sldId id="298" r:id="rId2"/>
    <p:sldId id="317" r:id="rId3"/>
    <p:sldId id="322" r:id="rId4"/>
    <p:sldId id="323" r:id="rId5"/>
    <p:sldId id="324" r:id="rId6"/>
    <p:sldId id="325" r:id="rId7"/>
    <p:sldId id="318" r:id="rId8"/>
    <p:sldId id="319" r:id="rId9"/>
    <p:sldId id="320" r:id="rId10"/>
    <p:sldId id="321" r:id="rId11"/>
    <p:sldId id="331" r:id="rId12"/>
    <p:sldId id="332" r:id="rId13"/>
    <p:sldId id="334" r:id="rId14"/>
    <p:sldId id="344" r:id="rId15"/>
    <p:sldId id="333" r:id="rId16"/>
    <p:sldId id="335" r:id="rId17"/>
    <p:sldId id="342" r:id="rId18"/>
    <p:sldId id="336" r:id="rId19"/>
    <p:sldId id="343" r:id="rId20"/>
    <p:sldId id="337" r:id="rId21"/>
    <p:sldId id="338" r:id="rId22"/>
    <p:sldId id="339" r:id="rId23"/>
    <p:sldId id="340" r:id="rId24"/>
    <p:sldId id="341" r:id="rId25"/>
    <p:sldId id="326" r:id="rId26"/>
    <p:sldId id="328" r:id="rId27"/>
    <p:sldId id="329" r:id="rId28"/>
    <p:sldId id="330" r:id="rId29"/>
    <p:sldId id="345" r:id="rId30"/>
    <p:sldId id="347" r:id="rId31"/>
    <p:sldId id="346" r:id="rId32"/>
    <p:sldId id="348" r:id="rId33"/>
    <p:sldId id="349" r:id="rId34"/>
    <p:sldId id="350" r:id="rId35"/>
    <p:sldId id="351" r:id="rId36"/>
    <p:sldId id="352" r:id="rId37"/>
    <p:sldId id="353" r:id="rId38"/>
    <p:sldId id="358" r:id="rId39"/>
    <p:sldId id="354" r:id="rId40"/>
    <p:sldId id="355" r:id="rId41"/>
    <p:sldId id="356" r:id="rId42"/>
    <p:sldId id="357" r:id="rId43"/>
    <p:sldId id="359" r:id="rId44"/>
    <p:sldId id="362" r:id="rId45"/>
    <p:sldId id="363" r:id="rId46"/>
    <p:sldId id="364" r:id="rId47"/>
    <p:sldId id="360" r:id="rId48"/>
    <p:sldId id="361" r:id="rId49"/>
    <p:sldId id="365" r:id="rId50"/>
  </p:sldIdLst>
  <p:sldSz cx="9906000" cy="6858000" type="A4"/>
  <p:notesSz cx="6794500" cy="9931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resentação" id="{BB983275-7B2C-44E6-BCB0-2C0B3688DC4C}">
          <p14:sldIdLst>
            <p14:sldId id="298"/>
            <p14:sldId id="317"/>
          </p14:sldIdLst>
        </p14:section>
        <p14:section name="Introdução" id="{E2BE9E51-E732-4766-A560-C7ED08A5222A}">
          <p14:sldIdLst>
            <p14:sldId id="322"/>
            <p14:sldId id="323"/>
            <p14:sldId id="324"/>
            <p14:sldId id="325"/>
          </p14:sldIdLst>
        </p14:section>
        <p14:section name="Estrutura" id="{15581C2F-A4F2-452A-9647-7C0917388428}">
          <p14:sldIdLst>
            <p14:sldId id="318"/>
            <p14:sldId id="319"/>
          </p14:sldIdLst>
        </p14:section>
        <p14:section name="Compilação" id="{85C4159F-F423-4FB0-9E9C-F6CD42C07906}">
          <p14:sldIdLst>
            <p14:sldId id="320"/>
          </p14:sldIdLst>
        </p14:section>
        <p14:section name="Pré-Requisitos" id="{70A77E76-67C6-4C20-9D06-420AAAAB4BA7}">
          <p14:sldIdLst>
            <p14:sldId id="321"/>
          </p14:sldIdLst>
        </p14:section>
        <p14:section name="Tipos de dados" id="{5552932C-ED63-45E2-B6A1-ECEC798CDAC9}">
          <p14:sldIdLst>
            <p14:sldId id="331"/>
            <p14:sldId id="332"/>
            <p14:sldId id="334"/>
            <p14:sldId id="344"/>
            <p14:sldId id="333"/>
            <p14:sldId id="335"/>
            <p14:sldId id="342"/>
            <p14:sldId id="336"/>
            <p14:sldId id="343"/>
            <p14:sldId id="337"/>
            <p14:sldId id="338"/>
            <p14:sldId id="339"/>
            <p14:sldId id="340"/>
            <p14:sldId id="341"/>
          </p14:sldIdLst>
        </p14:section>
        <p14:section name="Exercícios" id="{4B514AAB-F9AF-4917-9F09-EABF0633DBD4}">
          <p14:sldIdLst>
            <p14:sldId id="326"/>
            <p14:sldId id="328"/>
            <p14:sldId id="329"/>
            <p14:sldId id="330"/>
            <p14:sldId id="345"/>
            <p14:sldId id="347"/>
            <p14:sldId id="346"/>
          </p14:sldIdLst>
        </p14:section>
        <p14:section name="Strings" id="{90D38EC3-0CD3-48E9-9451-5A6B8948F9F8}">
          <p14:sldIdLst>
            <p14:sldId id="348"/>
            <p14:sldId id="349"/>
            <p14:sldId id="350"/>
            <p14:sldId id="351"/>
            <p14:sldId id="352"/>
            <p14:sldId id="353"/>
            <p14:sldId id="358"/>
          </p14:sldIdLst>
        </p14:section>
        <p14:section name="Arrays" id="{997149DD-B0DE-4560-945D-591DB26C966D}">
          <p14:sldIdLst>
            <p14:sldId id="354"/>
            <p14:sldId id="355"/>
            <p14:sldId id="356"/>
            <p14:sldId id="357"/>
            <p14:sldId id="359"/>
            <p14:sldId id="362"/>
            <p14:sldId id="363"/>
            <p14:sldId id="364"/>
            <p14:sldId id="360"/>
            <p14:sldId id="361"/>
            <p14:sldId id="3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2" userDrawn="1">
          <p15:clr>
            <a:srgbClr val="A4A3A4"/>
          </p15:clr>
        </p15:guide>
        <p15:guide id="2" orient="horz" pos="733">
          <p15:clr>
            <a:srgbClr val="A4A3A4"/>
          </p15:clr>
        </p15:guide>
        <p15:guide id="3" orient="horz" pos="409">
          <p15:clr>
            <a:srgbClr val="A4A3A4"/>
          </p15:clr>
        </p15:guide>
        <p15:guide id="4" orient="horz" pos="966">
          <p15:clr>
            <a:srgbClr val="A4A3A4"/>
          </p15:clr>
        </p15:guide>
        <p15:guide id="5" orient="horz" pos="3878">
          <p15:clr>
            <a:srgbClr val="A4A3A4"/>
          </p15:clr>
        </p15:guide>
        <p15:guide id="6" orient="horz" pos="4034">
          <p15:clr>
            <a:srgbClr val="A4A3A4"/>
          </p15:clr>
        </p15:guide>
        <p15:guide id="7" pos="5660">
          <p15:clr>
            <a:srgbClr val="A4A3A4"/>
          </p15:clr>
        </p15:guide>
        <p15:guide id="8" pos="149">
          <p15:clr>
            <a:srgbClr val="A4A3A4"/>
          </p15:clr>
        </p15:guide>
        <p15:guide id="9" pos="6090">
          <p15:clr>
            <a:srgbClr val="A4A3A4"/>
          </p15:clr>
        </p15:guide>
        <p15:guide id="10" pos="6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C65"/>
    <a:srgbClr val="2274AC"/>
    <a:srgbClr val="FFC000"/>
    <a:srgbClr val="007DC5"/>
    <a:srgbClr val="FFD100"/>
    <a:srgbClr val="C82D20"/>
    <a:srgbClr val="51AE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65" autoAdjust="0"/>
    <p:restoredTop sz="79681" autoAdjust="0"/>
  </p:normalViewPr>
  <p:slideViewPr>
    <p:cSldViewPr snapToGrid="0">
      <p:cViewPr varScale="1">
        <p:scale>
          <a:sx n="73" d="100"/>
          <a:sy n="73" d="100"/>
        </p:scale>
        <p:origin x="1950" y="72"/>
      </p:cViewPr>
      <p:guideLst>
        <p:guide orient="horz" pos="232"/>
        <p:guide orient="horz" pos="733"/>
        <p:guide orient="horz" pos="409"/>
        <p:guide orient="horz" pos="966"/>
        <p:guide orient="horz" pos="3878"/>
        <p:guide orient="horz" pos="4034"/>
        <p:guide pos="5660"/>
        <p:guide pos="149"/>
        <p:guide pos="6090"/>
        <p:guide pos="6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-3384" y="-114"/>
      </p:cViewPr>
      <p:guideLst>
        <p:guide orient="horz" pos="3128"/>
        <p:guide pos="214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810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5DDB26-5A39-475D-920B-32AAE1E9FCB7}" type="datetimeFigureOut">
              <a:rPr lang="pt-PT" smtClean="0"/>
              <a:t>12-12-2014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32925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8100" y="9432925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3CD56E-ECDA-402E-9936-59A7DBA7136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5713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8645" y="0"/>
            <a:ext cx="2944283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934A03-512B-4175-A05C-244CAC0C2483}" type="datetimeFigureOut">
              <a:rPr lang="de-DE" smtClean="0"/>
              <a:t>12.12.2014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708025" y="744538"/>
            <a:ext cx="537845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33106"/>
            <a:ext cx="2944283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8645" y="9433106"/>
            <a:ext cx="2944283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26462-A666-4A36-A2AC-732EB029069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0277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1" dirty="0" smtClean="0"/>
              <a:t>Orientada a Objetos: </a:t>
            </a:r>
            <a:r>
              <a:rPr lang="pt-PT" sz="1200" dirty="0" smtClean="0"/>
              <a:t>De salientar entre as várias vantagens o reaproveitamento de código e aumento da eficácia na manutenção dos sistemas desenvolvidos.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b="1" dirty="0" smtClean="0"/>
              <a:t>Simples e Robusta: </a:t>
            </a:r>
            <a:r>
              <a:rPr lang="pt-PT" sz="1200" dirty="0" smtClean="0"/>
              <a:t>Algumas dessas características são o tratamento obrigatório de exceções e a gestão automática de memória.  </a:t>
            </a:r>
          </a:p>
          <a:p>
            <a:r>
              <a:rPr lang="pt-PT" sz="1200" b="1" dirty="0" smtClean="0"/>
              <a:t>Gestão automática de memória: </a:t>
            </a:r>
            <a:r>
              <a:rPr lang="pt-PT" sz="1200" dirty="0" smtClean="0"/>
              <a:t>Em Java não existe apontadores, isto é, não é permitido ao programador aceder explicitamente a uma determinada posição de memória. O Java gere automaticamente o processo de alocação e libertação de memória, libertando o programador dessa responsabilidade. </a:t>
            </a:r>
            <a:endParaRPr lang="pt-PT" sz="1200" b="1" dirty="0" smtClean="0"/>
          </a:p>
          <a:p>
            <a:r>
              <a:rPr lang="pt-PT" sz="1200" b="1" dirty="0" smtClean="0"/>
              <a:t>Independência da plataforma: </a:t>
            </a:r>
            <a:r>
              <a:rPr lang="pt-PT" sz="1200" dirty="0" smtClean="0"/>
              <a:t>Isto é possível através da utilização da </a:t>
            </a:r>
            <a:r>
              <a:rPr lang="pt-PT" sz="1200" b="1" i="1" dirty="0" smtClean="0"/>
              <a:t>Java Virtual </a:t>
            </a:r>
            <a:r>
              <a:rPr lang="pt-PT" sz="1200" b="1" i="1" dirty="0" err="1" smtClean="0"/>
              <a:t>Machine</a:t>
            </a:r>
            <a:r>
              <a:rPr lang="pt-PT" sz="1200" b="1" i="1" dirty="0" smtClean="0"/>
              <a:t> (JVM)</a:t>
            </a:r>
            <a:r>
              <a:rPr lang="pt-PT" sz="1200" dirty="0" smtClean="0"/>
              <a:t> que é responsável pela execução do código compilado em Java na plataforma específica em que o estamos a executar. 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33335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1" dirty="0" smtClean="0"/>
              <a:t>Orientada a Objetos: </a:t>
            </a:r>
            <a:r>
              <a:rPr lang="pt-PT" sz="1200" dirty="0" smtClean="0"/>
              <a:t>De salientar entre as várias vantagens o reaproveitamento de código e aumento da eficácia na manutenção dos sistemas desenvolvidos.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b="1" dirty="0" smtClean="0"/>
              <a:t>Simples e Robusta: </a:t>
            </a:r>
            <a:r>
              <a:rPr lang="pt-PT" sz="1200" dirty="0" smtClean="0"/>
              <a:t>Algumas dessas características são o tratamento obrigatório de exceções e a gestão automática de memória.  </a:t>
            </a:r>
          </a:p>
          <a:p>
            <a:r>
              <a:rPr lang="pt-PT" sz="1200" b="1" dirty="0" smtClean="0"/>
              <a:t>Gestão automática de memória: </a:t>
            </a:r>
            <a:r>
              <a:rPr lang="pt-PT" sz="1200" dirty="0" smtClean="0"/>
              <a:t>Em Java não existe apontadores, isto é, não é permitido ao programador aceder explicitamente a uma determinada posição de memória. O Java gere automaticamente o processo de alocação e libertação de memória, libertando o programador dessa responsabilidade. </a:t>
            </a:r>
            <a:endParaRPr lang="pt-PT" sz="1200" b="1" dirty="0" smtClean="0"/>
          </a:p>
          <a:p>
            <a:r>
              <a:rPr lang="pt-PT" sz="1200" b="1" dirty="0" smtClean="0"/>
              <a:t>Independência da plataforma: </a:t>
            </a:r>
            <a:r>
              <a:rPr lang="pt-PT" sz="1200" dirty="0" smtClean="0"/>
              <a:t>Isto é possível através da utilização da </a:t>
            </a:r>
            <a:r>
              <a:rPr lang="pt-PT" sz="1200" b="1" i="1" dirty="0" smtClean="0"/>
              <a:t>Java Virtual </a:t>
            </a:r>
            <a:r>
              <a:rPr lang="pt-PT" sz="1200" b="1" i="1" dirty="0" err="1" smtClean="0"/>
              <a:t>Machine</a:t>
            </a:r>
            <a:r>
              <a:rPr lang="pt-PT" sz="1200" b="1" i="1" dirty="0" smtClean="0"/>
              <a:t> (JVM)</a:t>
            </a:r>
            <a:r>
              <a:rPr lang="pt-PT" sz="1200" dirty="0" smtClean="0"/>
              <a:t> que é responsável pela execução do código compilado em Java na plataforma específica em que o estamos a executar. 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8346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sz="1200" b="1" dirty="0" smtClean="0"/>
              <a:t>Orientada a Objetos: </a:t>
            </a:r>
            <a:r>
              <a:rPr lang="pt-PT" sz="1200" dirty="0" smtClean="0"/>
              <a:t>De salientar entre as várias vantagens o reaproveitamento de código e aumento da eficácia na manutenção dos sistemas desenvolvidos.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b="1" dirty="0" smtClean="0"/>
              <a:t>Simples e Robusta: </a:t>
            </a:r>
            <a:r>
              <a:rPr lang="pt-PT" sz="1200" dirty="0" smtClean="0"/>
              <a:t>Algumas dessas características são o tratamento obrigatório de exceções e a gestão automática de memória.  </a:t>
            </a:r>
          </a:p>
          <a:p>
            <a:r>
              <a:rPr lang="pt-PT" sz="1200" b="1" dirty="0" smtClean="0"/>
              <a:t>Gestão automática de memória: </a:t>
            </a:r>
            <a:r>
              <a:rPr lang="pt-PT" sz="1200" dirty="0" smtClean="0"/>
              <a:t>Em Java não existe apontadores, isto é, não é permitido ao programador aceder explicitamente a uma determinada posição de memória. O Java gere automaticamente o processo de alocação e libertação de memória, libertando o programador dessa responsabilidade. </a:t>
            </a:r>
            <a:endParaRPr lang="pt-PT" sz="1200" b="1" dirty="0" smtClean="0"/>
          </a:p>
          <a:p>
            <a:r>
              <a:rPr lang="pt-PT" sz="1200" b="1" dirty="0" smtClean="0"/>
              <a:t>Independência da plataforma: </a:t>
            </a:r>
            <a:r>
              <a:rPr lang="pt-PT" sz="1200" dirty="0" smtClean="0"/>
              <a:t>Isto é possível através da utilização da </a:t>
            </a:r>
            <a:r>
              <a:rPr lang="pt-PT" sz="1200" b="1" i="1" dirty="0" smtClean="0"/>
              <a:t>Java Virtual </a:t>
            </a:r>
            <a:r>
              <a:rPr lang="pt-PT" sz="1200" b="1" i="1" dirty="0" err="1" smtClean="0"/>
              <a:t>Machine</a:t>
            </a:r>
            <a:r>
              <a:rPr lang="pt-PT" sz="1200" b="1" i="1" dirty="0" smtClean="0"/>
              <a:t> (JVM)</a:t>
            </a:r>
            <a:r>
              <a:rPr lang="pt-PT" sz="1200" dirty="0" smtClean="0"/>
              <a:t> que é responsável pela execução do código compilado em Java na plataforma específica em que o estamos a executar. 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8308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46419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88507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70164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480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9689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83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192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81574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43432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9507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A26462-A666-4A36-A2AC-732EB029069A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4518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EC slide 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019175" y="4425950"/>
            <a:ext cx="7953375" cy="749300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>
            <a:lvl1pPr algn="ctr"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noProof="0" dirty="0" err="1" smtClean="0"/>
              <a:t>ajav</a:t>
            </a:r>
            <a:endParaRPr lang="de-DE" noProof="0" dirty="0" smtClean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9906000" cy="6270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5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842" y="2045603"/>
            <a:ext cx="5400000" cy="1414725"/>
          </a:xfrm>
          <a:prstGeom prst="rect">
            <a:avLst/>
          </a:prstGeom>
        </p:spPr>
      </p:pic>
      <p:sp>
        <p:nvSpPr>
          <p:cNvPr id="8" name="Rectangle 3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019175" y="5248800"/>
            <a:ext cx="7953375" cy="530225"/>
          </a:xfrm>
        </p:spPr>
        <p:txBody>
          <a:bodyPr anchor="b"/>
          <a:lstStyle>
            <a:lvl1pPr marL="0" marR="0" indent="0" algn="ctr" defTabSz="914400" rtl="0" eaLnBrk="1" fontAlgn="base" latinLnBrk="0" hangingPunct="1">
              <a:lnSpc>
                <a:spcPct val="10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lang="en-US" sz="2800" b="0" i="0" u="none" strike="noStrike" baseline="0" smtClean="0"/>
            </a:lvl1pPr>
          </a:lstStyle>
          <a:p>
            <a:pPr marL="0" marR="0" lvl="0" indent="0" algn="l" defTabSz="914400" rtl="0" eaLnBrk="1" fontAlgn="base" latinLnBrk="0" hangingPunct="1">
              <a:lnSpc>
                <a:spcPct val="10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i="0" u="none" strike="noStrike" baseline="0" dirty="0" smtClean="0">
                <a:solidFill>
                  <a:srgbClr val="33434C"/>
                </a:solidFill>
                <a:latin typeface="+mn-lt"/>
              </a:rPr>
              <a:t>                         Arial Headings 28 </a:t>
            </a:r>
            <a:r>
              <a:rPr lang="en-US" sz="2800" b="0" i="0" u="none" strike="noStrike" baseline="0" dirty="0" err="1" smtClean="0">
                <a:solidFill>
                  <a:srgbClr val="33434C"/>
                </a:solidFill>
                <a:latin typeface="+mn-lt"/>
              </a:rPr>
              <a:t>pt</a:t>
            </a:r>
            <a:endParaRPr lang="en-US" sz="2800" b="0" i="0" u="none" strike="noStrike" baseline="0" dirty="0" smtClean="0">
              <a:solidFill>
                <a:srgbClr val="33434C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6444069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EC  Slid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1031874" y="1195660"/>
            <a:ext cx="7953375" cy="4932362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000000"/>
                </a:solidFill>
              </a:defRPr>
            </a:lvl1pPr>
            <a:lvl2pPr>
              <a:defRPr sz="2000">
                <a:solidFill>
                  <a:srgbClr val="000000"/>
                </a:solidFill>
              </a:defRPr>
            </a:lvl2pPr>
            <a:lvl3pPr>
              <a:defRPr sz="1800">
                <a:solidFill>
                  <a:srgbClr val="000000"/>
                </a:solidFill>
              </a:defRPr>
            </a:lvl3pPr>
            <a:lvl4pPr>
              <a:defRPr sz="2100">
                <a:solidFill>
                  <a:srgbClr val="000000"/>
                </a:solidFill>
              </a:defRPr>
            </a:lvl4pPr>
            <a:lvl5pPr>
              <a:defRPr sz="2100">
                <a:solidFill>
                  <a:srgbClr val="000000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Arial 24</a:t>
            </a:r>
          </a:p>
          <a:p>
            <a:pPr lvl="1"/>
            <a:r>
              <a:rPr lang="en-US" dirty="0" smtClean="0"/>
              <a:t>Arial 20</a:t>
            </a:r>
          </a:p>
          <a:p>
            <a:pPr lvl="2"/>
            <a:r>
              <a:rPr lang="en-US" dirty="0" smtClean="0"/>
              <a:t>Arial 18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de-DE" dirty="0"/>
          </a:p>
        </p:txBody>
      </p:sp>
      <p:sp>
        <p:nvSpPr>
          <p:cNvPr id="11" name="Rectangle 4"/>
          <p:cNvSpPr txBox="1">
            <a:spLocks noChangeArrowheads="1"/>
          </p:cNvSpPr>
          <p:nvPr userDrawn="1"/>
        </p:nvSpPr>
        <p:spPr bwMode="auto">
          <a:xfrm>
            <a:off x="2699200" y="6518422"/>
            <a:ext cx="4445000" cy="28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marL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tabLst>
                <a:tab pos="1003300" algn="l"/>
                <a:tab pos="2751138" algn="l"/>
              </a:tabLst>
              <a:defRPr sz="1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smtClean="0"/>
              <a:t>ATEC – Fundamentos da Linguagem</a:t>
            </a:r>
            <a:r>
              <a:rPr lang="de-DE" baseline="0" dirty="0" smtClean="0"/>
              <a:t> Java</a:t>
            </a:r>
            <a:endParaRPr lang="de-DE" dirty="0"/>
          </a:p>
        </p:txBody>
      </p:sp>
      <p:sp>
        <p:nvSpPr>
          <p:cNvPr id="12" name="Rectangle 2"/>
          <p:cNvSpPr txBox="1">
            <a:spLocks noChangeArrowheads="1"/>
          </p:cNvSpPr>
          <p:nvPr userDrawn="1"/>
        </p:nvSpPr>
        <p:spPr bwMode="auto">
          <a:xfrm>
            <a:off x="1031875" y="306535"/>
            <a:ext cx="7953375" cy="900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defTabSz="914400" rtl="0" eaLnBrk="1" latinLnBrk="0" hangingPunct="1">
              <a:lnSpc>
                <a:spcPct val="103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de-DE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 smtClean="0"/>
              <a:t>Arial 28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48091249"/>
      </p:ext>
    </p:extLst>
  </p:cSld>
  <p:clrMapOvr>
    <a:masterClrMapping/>
  </p:clrMapOvr>
  <p:transition>
    <p:cut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 smtClean="0"/>
              <a:t>Click to add title style</a:t>
            </a:r>
            <a:endParaRPr lang="pt-PT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700534" y="6509499"/>
            <a:ext cx="4445000" cy="282575"/>
          </a:xfrm>
        </p:spPr>
        <p:txBody>
          <a:bodyPr/>
          <a:lstStyle/>
          <a:p>
            <a:r>
              <a:rPr lang="de-DE" dirty="0" smtClean="0"/>
              <a:t>ATEC – Fundamentos da Linguagem</a:t>
            </a:r>
            <a:r>
              <a:rPr lang="de-DE" baseline="0" dirty="0" smtClean="0"/>
              <a:t> Java</a:t>
            </a:r>
            <a:endParaRPr 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1031874" y="1195660"/>
            <a:ext cx="7953375" cy="4932362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000000"/>
                </a:solidFill>
              </a:defRPr>
            </a:lvl1pPr>
            <a:lvl2pPr>
              <a:defRPr sz="2000">
                <a:solidFill>
                  <a:srgbClr val="000000"/>
                </a:solidFill>
              </a:defRPr>
            </a:lvl2pPr>
            <a:lvl3pPr>
              <a:defRPr sz="1800">
                <a:solidFill>
                  <a:srgbClr val="000000"/>
                </a:solidFill>
              </a:defRPr>
            </a:lvl3pPr>
            <a:lvl4pPr>
              <a:defRPr sz="2100">
                <a:solidFill>
                  <a:srgbClr val="000000"/>
                </a:solidFill>
              </a:defRPr>
            </a:lvl4pPr>
            <a:lvl5pPr>
              <a:defRPr sz="2100">
                <a:solidFill>
                  <a:srgbClr val="000000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add text</a:t>
            </a:r>
          </a:p>
          <a:p>
            <a:pPr lvl="1"/>
            <a:r>
              <a:rPr lang="en-US" dirty="0" smtClean="0"/>
              <a:t>Arial 20</a:t>
            </a:r>
          </a:p>
          <a:p>
            <a:pPr lvl="2"/>
            <a:r>
              <a:rPr lang="en-US" dirty="0" smtClean="0"/>
              <a:t>Arial 18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90845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019175" y="287338"/>
            <a:ext cx="7953375" cy="900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/>
              <a:t>Arial 28</a:t>
            </a:r>
          </a:p>
        </p:txBody>
      </p:sp>
      <p:sp>
        <p:nvSpPr>
          <p:cNvPr id="14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031875" y="1236663"/>
            <a:ext cx="7953375" cy="4919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3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100" b="0" i="0" u="none" strike="noStrike" kern="0" cap="none" spc="0" normalizeH="0" baseline="0" noProof="0" dirty="0" smtClean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Arial 24</a:t>
            </a:r>
          </a:p>
          <a:p>
            <a:pPr marL="266700" marR="0" lvl="1" indent="-265113" algn="l" defTabSz="914400" rtl="0" eaLnBrk="1" fontAlgn="base" latinLnBrk="0" hangingPunct="1">
              <a:lnSpc>
                <a:spcPct val="103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 typeface="VW Headline OT-Book" pitchFamily="34" charset="0"/>
              <a:buChar char="–"/>
              <a:tabLst/>
              <a:defRPr/>
            </a:pPr>
            <a:r>
              <a:rPr kumimoji="0" lang="de-DE" sz="2100" b="0" i="0" u="none" strike="noStrike" kern="0" cap="none" spc="0" normalizeH="0" baseline="0" noProof="0" dirty="0" smtClean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+mn-lt"/>
              </a:rPr>
              <a:t>Arial 20</a:t>
            </a:r>
          </a:p>
          <a:p>
            <a:pPr marL="533400" marR="0" lvl="2" indent="-265113" algn="l" defTabSz="914400" rtl="0" eaLnBrk="1" fontAlgn="base" latinLnBrk="0" hangingPunct="1">
              <a:lnSpc>
                <a:spcPct val="103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 typeface="VW Headline OT-Book" pitchFamily="34" charset="0"/>
              <a:buChar char="–"/>
              <a:tabLst/>
              <a:defRPr/>
            </a:pPr>
            <a:r>
              <a:rPr kumimoji="0" lang="de-DE" sz="2100" b="0" i="0" u="none" strike="noStrike" kern="0" cap="none" spc="0" normalizeH="0" baseline="0" noProof="0" dirty="0" smtClean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+mn-lt"/>
              </a:rPr>
              <a:t>Arial 18</a:t>
            </a:r>
          </a:p>
        </p:txBody>
      </p:sp>
      <p:sp>
        <p:nvSpPr>
          <p:cNvPr id="15" name="Rectangle 4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11500" y="6499225"/>
            <a:ext cx="4445000" cy="28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tabLst>
                <a:tab pos="1003300" algn="l"/>
                <a:tab pos="2751138" algn="l"/>
              </a:tabLst>
              <a:defRPr sz="1000" b="1"/>
            </a:lvl1pPr>
          </a:lstStyle>
          <a:p>
            <a:r>
              <a:rPr lang="de-DE" dirty="0" smtClean="0"/>
              <a:t>ATEC – </a:t>
            </a:r>
            <a:r>
              <a:rPr lang="de-DE" dirty="0" err="1" smtClean="0"/>
              <a:t>Título</a:t>
            </a:r>
            <a:r>
              <a:rPr lang="de-DE" dirty="0" smtClean="0"/>
              <a:t> </a:t>
            </a:r>
            <a:r>
              <a:rPr lang="de-DE" dirty="0" err="1" smtClean="0"/>
              <a:t>Apresentação</a:t>
            </a:r>
            <a:endParaRPr lang="de-DE" dirty="0"/>
          </a:p>
        </p:txBody>
      </p:sp>
      <p:sp>
        <p:nvSpPr>
          <p:cNvPr id="16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79593" y="6490493"/>
            <a:ext cx="1611313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lnSpc>
                <a:spcPct val="100000"/>
              </a:lnSpc>
              <a:spcBef>
                <a:spcPct val="0"/>
              </a:spcBef>
              <a:defRPr sz="1000" b="1"/>
            </a:lvl1pPr>
          </a:lstStyle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1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27113" y="6499225"/>
            <a:ext cx="900112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lnSpc>
                <a:spcPct val="100000"/>
              </a:lnSpc>
              <a:spcBef>
                <a:spcPct val="0"/>
              </a:spcBef>
              <a:defRPr sz="1000"/>
            </a:lvl1pPr>
          </a:lstStyle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84312"/>
            <a:ext cx="9864000" cy="0"/>
          </a:xfrm>
          <a:prstGeom prst="line">
            <a:avLst/>
          </a:prstGeom>
          <a:ln w="254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 userDrawn="1"/>
        </p:nvCxnSpPr>
        <p:spPr>
          <a:xfrm>
            <a:off x="0" y="6381328"/>
            <a:ext cx="9900000" cy="0"/>
          </a:xfrm>
          <a:prstGeom prst="line">
            <a:avLst/>
          </a:prstGeom>
          <a:ln w="254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124" y="247555"/>
            <a:ext cx="1440000" cy="37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66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</p:sldLayoutIdLst>
  <p:timing>
    <p:tnLst>
      <p:par>
        <p:cTn id="1" dur="indefinite" restart="never" nodeType="tmRoot"/>
      </p:par>
    </p:tnLst>
  </p:timing>
  <p:hf hdr="0"/>
  <p:txStyles>
    <p:titleStyle>
      <a:lvl1pPr algn="l" defTabSz="914400" rtl="0" eaLnBrk="1" latinLnBrk="0" hangingPunct="1">
        <a:lnSpc>
          <a:spcPct val="103000"/>
        </a:lnSpc>
        <a:spcBef>
          <a:spcPct val="0"/>
        </a:spcBef>
        <a:buNone/>
        <a:defRPr sz="280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Tx/>
        <a:buNone/>
        <a:tabLst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66700" marR="0" indent="-265113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 typeface="VW Headline OT-Book" pitchFamily="34" charset="0"/>
        <a:buChar char="–"/>
        <a:tabLst/>
        <a:defRPr sz="5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533400" marR="0" indent="-265113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 typeface="VW Headline OT-Book" pitchFamily="34" charset="0"/>
        <a:buChar char="–"/>
        <a:tabLst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784225" marR="0" indent="-249238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 typeface="VW Headline OT-Book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47750" marR="0" indent="-261938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 typeface="VW Headline OT-Book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nshityourself/FLG0789" TargetMode="External"/><Relationship Id="rId2" Type="http://schemas.openxmlformats.org/officeDocument/2006/relationships/hyperlink" Target="http://www.oracle.com/technetwork/java/javase/documentation/jdk8-doc-downloads-2133158.html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Fundamentos de Linguagem Java </a:t>
            </a:r>
            <a:br>
              <a:rPr lang="pt-PT" dirty="0" smtClean="0">
                <a:solidFill>
                  <a:schemeClr val="bg1">
                    <a:lumMod val="50000"/>
                  </a:schemeClr>
                </a:solidFill>
              </a:rPr>
            </a:br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UFCD 0789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5519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/>
              <a:t>Apresentação da UFCD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031875" y="1161675"/>
            <a:ext cx="7953375" cy="4994650"/>
          </a:xfrm>
        </p:spPr>
        <p:txBody>
          <a:bodyPr/>
          <a:lstStyle/>
          <a:p>
            <a:r>
              <a:rPr lang="pt-PT" dirty="0" smtClean="0"/>
              <a:t>  - </a:t>
            </a:r>
            <a:r>
              <a:rPr lang="pt-PT" dirty="0"/>
              <a:t>Introdução ao JAVA</a:t>
            </a:r>
          </a:p>
          <a:p>
            <a:r>
              <a:rPr lang="pt-PT" dirty="0"/>
              <a:t>  - Estrutura de um programa</a:t>
            </a:r>
          </a:p>
          <a:p>
            <a:r>
              <a:rPr lang="pt-PT" dirty="0" smtClean="0"/>
              <a:t>  - Compilação e execução</a:t>
            </a:r>
          </a:p>
          <a:p>
            <a:r>
              <a:rPr lang="pt-PT" dirty="0" smtClean="0"/>
              <a:t>  </a:t>
            </a:r>
            <a:r>
              <a:rPr lang="pt-PT" dirty="0"/>
              <a:t>- </a:t>
            </a:r>
            <a:r>
              <a:rPr lang="pt-PT" dirty="0" smtClean="0"/>
              <a:t>Pré-requisitos e IDE</a:t>
            </a:r>
            <a:endParaRPr lang="pt-PT" dirty="0"/>
          </a:p>
          <a:p>
            <a:r>
              <a:rPr lang="pt-PT" dirty="0"/>
              <a:t>  - Variáveis e operadores</a:t>
            </a:r>
          </a:p>
          <a:p>
            <a:r>
              <a:rPr lang="pt-PT" dirty="0"/>
              <a:t>  - Instruções de fluxo de controlo</a:t>
            </a:r>
          </a:p>
          <a:p>
            <a:r>
              <a:rPr lang="pt-PT" dirty="0"/>
              <a:t>  - </a:t>
            </a:r>
            <a:r>
              <a:rPr lang="pt-PT" dirty="0" smtClean="0"/>
              <a:t>Métodos</a:t>
            </a:r>
          </a:p>
          <a:p>
            <a:r>
              <a:rPr lang="pt-PT" dirty="0" smtClean="0"/>
              <a:t>  </a:t>
            </a:r>
            <a:r>
              <a:rPr lang="pt-PT" dirty="0"/>
              <a:t>- </a:t>
            </a:r>
            <a:r>
              <a:rPr lang="pt-PT" dirty="0" smtClean="0"/>
              <a:t>Vetores e Matrizes</a:t>
            </a:r>
          </a:p>
          <a:p>
            <a:r>
              <a:rPr lang="pt-PT" dirty="0" smtClean="0"/>
              <a:t>  </a:t>
            </a:r>
            <a:r>
              <a:rPr lang="pt-PT" dirty="0"/>
              <a:t>- </a:t>
            </a:r>
            <a:r>
              <a:rPr lang="pt-PT" dirty="0" smtClean="0"/>
              <a:t>Exercícios e mais exercícios …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4094497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/>
              <a:t>Introdução ao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031875" y="1161675"/>
            <a:ext cx="7953375" cy="4994650"/>
          </a:xfrm>
        </p:spPr>
        <p:txBody>
          <a:bodyPr/>
          <a:lstStyle/>
          <a:p>
            <a:pPr algn="just"/>
            <a:r>
              <a:rPr lang="pt-PT" sz="2000" dirty="0" smtClean="0"/>
              <a:t>Década </a:t>
            </a:r>
            <a:r>
              <a:rPr lang="pt-PT" sz="2000" dirty="0"/>
              <a:t>de 90, um grupo da </a:t>
            </a:r>
            <a:r>
              <a:rPr lang="pt-PT" sz="2000" dirty="0" err="1"/>
              <a:t>Sun</a:t>
            </a:r>
            <a:r>
              <a:rPr lang="pt-PT" sz="2000" dirty="0"/>
              <a:t> trabalhou num projeto para criar uma nova geração de computadores portáteis inteligentes. </a:t>
            </a:r>
            <a:endParaRPr lang="pt-PT" sz="2000" dirty="0" smtClean="0"/>
          </a:p>
          <a:p>
            <a:pPr algn="just"/>
            <a:r>
              <a:rPr lang="pt-PT" sz="2000" dirty="0" smtClean="0"/>
              <a:t>Plataforma </a:t>
            </a:r>
            <a:r>
              <a:rPr lang="pt-PT" sz="2000" dirty="0"/>
              <a:t>de desenvolvimento onde o </a:t>
            </a:r>
            <a:r>
              <a:rPr lang="pt-PT" sz="2000" i="1" dirty="0"/>
              <a:t>software</a:t>
            </a:r>
            <a:r>
              <a:rPr lang="pt-PT" sz="2000" dirty="0"/>
              <a:t> pudesse ser executado em diferentes tipos de equipamento. </a:t>
            </a:r>
            <a:endParaRPr lang="pt-PT" sz="2000" dirty="0" smtClean="0"/>
          </a:p>
          <a:p>
            <a:pPr algn="just"/>
            <a:r>
              <a:rPr lang="pt-PT" sz="2000" dirty="0" smtClean="0"/>
              <a:t>Foi </a:t>
            </a:r>
            <a:r>
              <a:rPr lang="pt-PT" sz="2000" dirty="0"/>
              <a:t>escolhida a linguagem de programação C++, no entanto, o C++ não permitia realizar com facilidade tudo o que era pretendido. </a:t>
            </a:r>
            <a:endParaRPr lang="pt-PT" sz="2000" dirty="0" smtClean="0"/>
          </a:p>
          <a:p>
            <a:pPr algn="just"/>
            <a:r>
              <a:rPr lang="pt-PT" sz="2000" i="1" dirty="0" smtClean="0"/>
              <a:t>James </a:t>
            </a:r>
            <a:r>
              <a:rPr lang="pt-PT" sz="2000" i="1" dirty="0" err="1"/>
              <a:t>Gosling</a:t>
            </a:r>
            <a:r>
              <a:rPr lang="pt-PT" sz="2000" dirty="0"/>
              <a:t>, coordenador do projeto, </a:t>
            </a:r>
            <a:r>
              <a:rPr lang="pt-PT" sz="2000" dirty="0" smtClean="0"/>
              <a:t>decide </a:t>
            </a:r>
            <a:r>
              <a:rPr lang="pt-PT" sz="2000" dirty="0"/>
              <a:t>criar uma nova linguagem de programação que pudesse satisfazer essas necessidades.  </a:t>
            </a:r>
          </a:p>
          <a:p>
            <a:pPr algn="just"/>
            <a:r>
              <a:rPr lang="pt-PT" sz="2000" dirty="0"/>
              <a:t>Por motivos de custos de produção esse projeto foi abandonado. </a:t>
            </a:r>
            <a:endParaRPr lang="pt-PT" sz="2000" dirty="0" smtClean="0"/>
          </a:p>
          <a:p>
            <a:pPr algn="just"/>
            <a:r>
              <a:rPr lang="pt-PT" sz="2000" dirty="0" smtClean="0"/>
              <a:t>Com </a:t>
            </a:r>
            <a:r>
              <a:rPr lang="pt-PT" sz="2000" dirty="0"/>
              <a:t>o aparecimento e evolução da Internet, a necessidade de uma tecnologia onde computadores de diferentes plataformas possam </a:t>
            </a:r>
            <a:r>
              <a:rPr lang="pt-PT" sz="2000" i="1" dirty="0"/>
              <a:t>conversar</a:t>
            </a:r>
            <a:r>
              <a:rPr lang="pt-PT" sz="2000" dirty="0"/>
              <a:t> ressuscita o projeto de </a:t>
            </a:r>
            <a:r>
              <a:rPr lang="pt-PT" sz="2000" i="1" dirty="0" err="1"/>
              <a:t>Gosling</a:t>
            </a:r>
            <a:r>
              <a:rPr lang="pt-PT" sz="2000" dirty="0"/>
              <a:t>, a linguagem Java</a:t>
            </a:r>
            <a:r>
              <a:rPr lang="pt-PT" sz="2000" dirty="0" smtClean="0"/>
              <a:t>.</a:t>
            </a:r>
            <a:endParaRPr lang="pt-PT" sz="20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1899533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/>
              <a:t>Introdução ao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031875" y="1161675"/>
            <a:ext cx="7953375" cy="4994650"/>
          </a:xfrm>
        </p:spPr>
        <p:txBody>
          <a:bodyPr/>
          <a:lstStyle/>
          <a:p>
            <a:r>
              <a:rPr lang="pt-PT" sz="2000" b="1" dirty="0"/>
              <a:t>Orientada a Objetos:</a:t>
            </a:r>
            <a:r>
              <a:rPr lang="pt-PT" sz="2000" dirty="0"/>
              <a:t> Paradigma atual mais utilizado na construção de software. </a:t>
            </a:r>
            <a:endParaRPr lang="pt-PT" sz="2000" dirty="0" smtClean="0"/>
          </a:p>
          <a:p>
            <a:r>
              <a:rPr lang="pt-PT" sz="2000" b="1" dirty="0" smtClean="0"/>
              <a:t>Simples e Robusta:</a:t>
            </a:r>
            <a:r>
              <a:rPr lang="pt-PT" sz="2000" dirty="0" smtClean="0"/>
              <a:t> O Java representa em muitos aspetos um aperfeiçoamento da linguagem C++. Tem características que permitem a criação de programas de uma forma mas rápida, no sentido em que retiram do programador a possibilidade de cometer erros comuns em C++. </a:t>
            </a:r>
          </a:p>
          <a:p>
            <a:r>
              <a:rPr lang="pt-PT" sz="2000" b="1" dirty="0" smtClean="0"/>
              <a:t>Gestão </a:t>
            </a:r>
            <a:r>
              <a:rPr lang="pt-PT" sz="2000" b="1" dirty="0"/>
              <a:t>automática de memória:</a:t>
            </a:r>
            <a:r>
              <a:rPr lang="pt-PT" sz="2000" dirty="0"/>
              <a:t> </a:t>
            </a:r>
            <a:r>
              <a:rPr lang="pt-PT" sz="2000" dirty="0" smtClean="0"/>
              <a:t>O </a:t>
            </a:r>
            <a:r>
              <a:rPr lang="pt-PT" sz="2000" dirty="0"/>
              <a:t>mecanismo responsável pela libertação de memória que não está em utilização é conhecido como </a:t>
            </a:r>
            <a:r>
              <a:rPr lang="pt-PT" sz="2000" i="1" dirty="0" err="1"/>
              <a:t>Garbage</a:t>
            </a:r>
            <a:r>
              <a:rPr lang="pt-PT" sz="2000" i="1" dirty="0"/>
              <a:t> </a:t>
            </a:r>
            <a:r>
              <a:rPr lang="pt-PT" sz="2000" i="1" dirty="0" err="1"/>
              <a:t>Collector</a:t>
            </a:r>
            <a:r>
              <a:rPr lang="pt-PT" sz="2000" dirty="0"/>
              <a:t>. </a:t>
            </a:r>
          </a:p>
          <a:p>
            <a:r>
              <a:rPr lang="pt-PT" sz="2000" b="1" dirty="0"/>
              <a:t>Independência da plataforma:</a:t>
            </a:r>
            <a:r>
              <a:rPr lang="pt-PT" sz="2000" dirty="0"/>
              <a:t> </a:t>
            </a:r>
            <a:r>
              <a:rPr lang="pt-PT" sz="2000" dirty="0" smtClean="0"/>
              <a:t>“</a:t>
            </a:r>
            <a:r>
              <a:rPr lang="pt-PT" sz="2000" i="1" dirty="0" err="1"/>
              <a:t>write</a:t>
            </a:r>
            <a:r>
              <a:rPr lang="pt-PT" sz="2000" i="1" dirty="0"/>
              <a:t> </a:t>
            </a:r>
            <a:r>
              <a:rPr lang="pt-PT" sz="2000" i="1" dirty="0" err="1"/>
              <a:t>once</a:t>
            </a:r>
            <a:r>
              <a:rPr lang="pt-PT" sz="2000" i="1" dirty="0"/>
              <a:t>, </a:t>
            </a:r>
            <a:r>
              <a:rPr lang="pt-PT" sz="2000" i="1" dirty="0" err="1"/>
              <a:t>run</a:t>
            </a:r>
            <a:r>
              <a:rPr lang="pt-PT" sz="2000" i="1" dirty="0"/>
              <a:t> </a:t>
            </a:r>
            <a:r>
              <a:rPr lang="pt-PT" sz="2000" i="1" dirty="0" err="1"/>
              <a:t>anywhere</a:t>
            </a:r>
            <a:r>
              <a:rPr lang="pt-PT" sz="2000" dirty="0"/>
              <a:t>”. </a:t>
            </a:r>
          </a:p>
          <a:p>
            <a:r>
              <a:rPr lang="pt-PT" sz="2000" b="1" dirty="0" err="1"/>
              <a:t>Multi-threading</a:t>
            </a:r>
            <a:r>
              <a:rPr lang="pt-PT" sz="2000" b="1" dirty="0"/>
              <a:t>:</a:t>
            </a:r>
            <a:r>
              <a:rPr lang="pt-PT" sz="2000" dirty="0"/>
              <a:t> Um programa em Java pode executar múltiplas </a:t>
            </a:r>
            <a:r>
              <a:rPr lang="pt-PT" sz="2000" i="1" dirty="0" err="1"/>
              <a:t>threads</a:t>
            </a:r>
            <a:r>
              <a:rPr lang="pt-PT" sz="2000" dirty="0"/>
              <a:t> para a realização de várias tarefas simultaneamente</a:t>
            </a:r>
            <a:r>
              <a:rPr lang="pt-PT" sz="2000" dirty="0" smtClean="0"/>
              <a:t>.</a:t>
            </a:r>
            <a:endParaRPr lang="pt-PT" sz="20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1772514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/>
              <a:t>Introdução ao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031875" y="1161675"/>
            <a:ext cx="7953375" cy="4994650"/>
          </a:xfrm>
        </p:spPr>
        <p:txBody>
          <a:bodyPr/>
          <a:lstStyle/>
          <a:p>
            <a:r>
              <a:rPr lang="pt-PT" b="1" dirty="0"/>
              <a:t>Java 2 Standard </a:t>
            </a:r>
            <a:r>
              <a:rPr lang="pt-PT" b="1" dirty="0" err="1"/>
              <a:t>Edition</a:t>
            </a:r>
            <a:r>
              <a:rPr lang="pt-PT" b="1" dirty="0"/>
              <a:t> (J2SE):</a:t>
            </a:r>
            <a:r>
              <a:rPr lang="pt-PT" dirty="0"/>
              <a:t> ferramentas e </a:t>
            </a:r>
            <a:r>
              <a:rPr lang="pt-PT" b="1" dirty="0" err="1"/>
              <a:t>API</a:t>
            </a:r>
            <a:r>
              <a:rPr lang="pt-PT" dirty="0" err="1"/>
              <a:t>s</a:t>
            </a:r>
            <a:r>
              <a:rPr lang="pt-PT" dirty="0"/>
              <a:t> (</a:t>
            </a:r>
            <a:r>
              <a:rPr lang="pt-PT" b="1" i="1" dirty="0" err="1"/>
              <a:t>A</a:t>
            </a:r>
            <a:r>
              <a:rPr lang="pt-PT" i="1" dirty="0" err="1"/>
              <a:t>pplication</a:t>
            </a:r>
            <a:r>
              <a:rPr lang="pt-PT" i="1" dirty="0"/>
              <a:t> </a:t>
            </a:r>
            <a:r>
              <a:rPr lang="pt-PT" b="1" i="1" dirty="0" err="1"/>
              <a:t>P</a:t>
            </a:r>
            <a:r>
              <a:rPr lang="pt-PT" i="1" dirty="0" err="1"/>
              <a:t>rogram</a:t>
            </a:r>
            <a:r>
              <a:rPr lang="pt-PT" i="1" dirty="0"/>
              <a:t> </a:t>
            </a:r>
            <a:r>
              <a:rPr lang="pt-PT" b="1" i="1" dirty="0"/>
              <a:t>I</a:t>
            </a:r>
            <a:r>
              <a:rPr lang="pt-PT" i="1" dirty="0"/>
              <a:t>nterface</a:t>
            </a:r>
            <a:r>
              <a:rPr lang="pt-PT" dirty="0"/>
              <a:t>) essenciais para qualquer aplicação Java.</a:t>
            </a:r>
          </a:p>
          <a:p>
            <a:r>
              <a:rPr lang="pt-PT" b="1" dirty="0"/>
              <a:t>Java 2 </a:t>
            </a:r>
            <a:r>
              <a:rPr lang="pt-PT" b="1" dirty="0" err="1"/>
              <a:t>Enterprise</a:t>
            </a:r>
            <a:r>
              <a:rPr lang="pt-PT" b="1" dirty="0"/>
              <a:t> </a:t>
            </a:r>
            <a:r>
              <a:rPr lang="pt-PT" b="1" dirty="0" err="1"/>
              <a:t>Edition</a:t>
            </a:r>
            <a:r>
              <a:rPr lang="pt-PT" b="1" dirty="0"/>
              <a:t> (J2EE):</a:t>
            </a:r>
            <a:r>
              <a:rPr lang="pt-PT" dirty="0"/>
              <a:t> ferramentas e </a:t>
            </a:r>
            <a:r>
              <a:rPr lang="pt-PT" b="1" dirty="0" err="1"/>
              <a:t>API</a:t>
            </a:r>
            <a:r>
              <a:rPr lang="pt-PT" dirty="0" err="1"/>
              <a:t>s</a:t>
            </a:r>
            <a:r>
              <a:rPr lang="pt-PT" dirty="0"/>
              <a:t> para o desenvolvimento de aplicações distribuídas. Engloba tecnologias tais como RMI, EJB, CORBA, JMS, etc. </a:t>
            </a:r>
          </a:p>
          <a:p>
            <a:r>
              <a:rPr lang="pt-PT" b="1" dirty="0"/>
              <a:t>Java 2 Micro </a:t>
            </a:r>
            <a:r>
              <a:rPr lang="pt-PT" b="1" dirty="0" err="1"/>
              <a:t>Edition</a:t>
            </a:r>
            <a:r>
              <a:rPr lang="pt-PT" b="1" dirty="0"/>
              <a:t> (J2ME):</a:t>
            </a:r>
            <a:r>
              <a:rPr lang="pt-PT" dirty="0"/>
              <a:t> ferramentas e </a:t>
            </a:r>
            <a:r>
              <a:rPr lang="pt-PT" dirty="0" err="1"/>
              <a:t>APIs</a:t>
            </a:r>
            <a:r>
              <a:rPr lang="pt-PT" dirty="0"/>
              <a:t> para o desenvolvimento de aplicações para dispositivos móveis. </a:t>
            </a:r>
          </a:p>
          <a:p>
            <a:endParaRPr lang="pt-PT" sz="20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5397576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/>
              <a:t>Introdução ao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031875" y="1161675"/>
            <a:ext cx="7953375" cy="4994650"/>
          </a:xfrm>
        </p:spPr>
        <p:txBody>
          <a:bodyPr/>
          <a:lstStyle/>
          <a:p>
            <a:r>
              <a:rPr lang="en-US" b="1" dirty="0"/>
              <a:t>Software Developers</a:t>
            </a:r>
            <a:r>
              <a:rPr lang="en-US" dirty="0"/>
              <a:t>: JDK (Java SE Development Kit). </a:t>
            </a:r>
            <a:r>
              <a:rPr lang="pt-PT" dirty="0"/>
              <a:t>Para </a:t>
            </a:r>
            <a:r>
              <a:rPr lang="pt-PT" i="1" dirty="0"/>
              <a:t>Java </a:t>
            </a:r>
            <a:r>
              <a:rPr lang="pt-PT" i="1" dirty="0" err="1"/>
              <a:t>Developers</a:t>
            </a:r>
            <a:r>
              <a:rPr lang="pt-PT" dirty="0"/>
              <a:t>, inclui o JRE bem como ferramentas para desenvolvimento, </a:t>
            </a:r>
            <a:r>
              <a:rPr lang="pt-PT" dirty="0" err="1"/>
              <a:t>debugging</a:t>
            </a:r>
            <a:r>
              <a:rPr lang="pt-PT" dirty="0"/>
              <a:t> e monitorização de aplicações Java</a:t>
            </a:r>
          </a:p>
          <a:p>
            <a:r>
              <a:rPr lang="pt-PT" b="1" dirty="0"/>
              <a:t>Administradores de sistemas:</a:t>
            </a:r>
            <a:r>
              <a:rPr lang="pt-PT" dirty="0"/>
              <a:t> Server JRE (Server Java </a:t>
            </a:r>
            <a:r>
              <a:rPr lang="pt-PT" dirty="0" err="1"/>
              <a:t>Runtime</a:t>
            </a:r>
            <a:r>
              <a:rPr lang="pt-PT" dirty="0"/>
              <a:t> </a:t>
            </a:r>
            <a:r>
              <a:rPr lang="pt-PT" dirty="0" err="1"/>
              <a:t>Environment</a:t>
            </a:r>
            <a:r>
              <a:rPr lang="pt-PT" dirty="0"/>
              <a:t>) Utilizado para efetuar o </a:t>
            </a:r>
            <a:r>
              <a:rPr lang="pt-PT" i="1" dirty="0" err="1"/>
              <a:t>deploy</a:t>
            </a:r>
            <a:r>
              <a:rPr lang="pt-PT" dirty="0"/>
              <a:t> de aplicações em servidores. Inclui ferramentas de JVM (Java Virtual </a:t>
            </a:r>
            <a:r>
              <a:rPr lang="pt-PT" dirty="0" err="1"/>
              <a:t>Machine</a:t>
            </a:r>
            <a:r>
              <a:rPr lang="pt-PT" dirty="0"/>
              <a:t>) e outras ferramentas necessárias para monitorização de aplicações. </a:t>
            </a:r>
          </a:p>
          <a:p>
            <a:r>
              <a:rPr lang="pt-PT" b="1" dirty="0"/>
              <a:t>Utilizadores finais:</a:t>
            </a:r>
            <a:r>
              <a:rPr lang="pt-PT" dirty="0"/>
              <a:t> JRE (Java </a:t>
            </a:r>
            <a:r>
              <a:rPr lang="pt-PT" dirty="0" err="1"/>
              <a:t>Runtime</a:t>
            </a:r>
            <a:r>
              <a:rPr lang="pt-PT" dirty="0"/>
              <a:t> </a:t>
            </a:r>
            <a:r>
              <a:rPr lang="pt-PT" dirty="0" err="1"/>
              <a:t>Environment</a:t>
            </a:r>
            <a:r>
              <a:rPr lang="pt-PT" dirty="0"/>
              <a:t>). Garante a maioria das necessidades dos utilizadores finais. Contém tudo o que é necessário para executar aplicações Java.</a:t>
            </a:r>
          </a:p>
          <a:p>
            <a:endParaRPr lang="pt-PT" sz="20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32963894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dirty="0"/>
              <a:t>&lt;modificador de acesso&gt; </a:t>
            </a:r>
            <a:r>
              <a:rPr lang="pt-PT" b="1" dirty="0" err="1"/>
              <a:t>class</a:t>
            </a:r>
            <a:r>
              <a:rPr lang="pt-PT" dirty="0"/>
              <a:t> &lt;nome da classe&gt;</a:t>
            </a:r>
          </a:p>
          <a:p>
            <a:r>
              <a:rPr lang="pt-PT" dirty="0"/>
              <a:t>{</a:t>
            </a:r>
          </a:p>
          <a:p>
            <a:r>
              <a:rPr lang="pt-PT" dirty="0"/>
              <a:t>	&lt;Declaração das Variáveis de Instância(Atributos)&gt;</a:t>
            </a:r>
          </a:p>
          <a:p>
            <a:r>
              <a:rPr lang="pt-PT" dirty="0"/>
              <a:t>	&lt;Declaração de Métodos&gt;</a:t>
            </a:r>
          </a:p>
          <a:p>
            <a:r>
              <a:rPr lang="pt-PT" b="1" dirty="0"/>
              <a:t>	</a:t>
            </a:r>
            <a:r>
              <a:rPr lang="pt-PT" b="1" dirty="0" err="1"/>
              <a:t>public</a:t>
            </a:r>
            <a:r>
              <a:rPr lang="pt-PT" dirty="0"/>
              <a:t> </a:t>
            </a:r>
            <a:r>
              <a:rPr lang="pt-PT" b="1" dirty="0" err="1"/>
              <a:t>static</a:t>
            </a:r>
            <a:r>
              <a:rPr lang="pt-PT" dirty="0"/>
              <a:t> </a:t>
            </a:r>
            <a:r>
              <a:rPr lang="pt-PT" b="1" dirty="0" err="1"/>
              <a:t>void</a:t>
            </a:r>
            <a:r>
              <a:rPr lang="pt-PT" dirty="0"/>
              <a:t> </a:t>
            </a:r>
            <a:r>
              <a:rPr lang="pt-PT" dirty="0" err="1"/>
              <a:t>main</a:t>
            </a:r>
            <a:r>
              <a:rPr lang="pt-PT" dirty="0"/>
              <a:t>( </a:t>
            </a:r>
            <a:r>
              <a:rPr lang="pt-PT" dirty="0" err="1"/>
              <a:t>String</a:t>
            </a:r>
            <a:r>
              <a:rPr lang="pt-PT" dirty="0"/>
              <a:t> </a:t>
            </a:r>
            <a:r>
              <a:rPr lang="pt-PT" dirty="0" err="1"/>
              <a:t>args</a:t>
            </a:r>
            <a:r>
              <a:rPr lang="pt-PT" dirty="0"/>
              <a:t>[] )</a:t>
            </a:r>
          </a:p>
          <a:p>
            <a:r>
              <a:rPr lang="pt-PT" dirty="0"/>
              <a:t>	{</a:t>
            </a:r>
          </a:p>
          <a:p>
            <a:r>
              <a:rPr lang="pt-PT" i="1" dirty="0"/>
              <a:t>		//corpo principal do programa</a:t>
            </a:r>
            <a:endParaRPr lang="pt-PT" dirty="0"/>
          </a:p>
          <a:p>
            <a:r>
              <a:rPr lang="pt-PT" dirty="0"/>
              <a:t>	}</a:t>
            </a:r>
          </a:p>
          <a:p>
            <a:r>
              <a:rPr lang="pt-PT" dirty="0"/>
              <a:t>}</a:t>
            </a:r>
          </a:p>
          <a:p>
            <a:endParaRPr lang="pt-PT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Estrutura básica de um programa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36187453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sz="2000" dirty="0" err="1"/>
              <a:t>public</a:t>
            </a:r>
            <a:r>
              <a:rPr lang="pt-PT" sz="2000" dirty="0"/>
              <a:t> </a:t>
            </a:r>
            <a:r>
              <a:rPr lang="pt-PT" sz="2000" b="1" dirty="0" err="1"/>
              <a:t>class</a:t>
            </a:r>
            <a:r>
              <a:rPr lang="pt-PT" sz="2000" dirty="0"/>
              <a:t> Exemplo1 {</a:t>
            </a:r>
          </a:p>
          <a:p>
            <a:r>
              <a:rPr lang="pt-PT" sz="2000" dirty="0"/>
              <a:t>	</a:t>
            </a:r>
            <a:r>
              <a:rPr lang="pt-PT" sz="2000" dirty="0" err="1"/>
              <a:t>String</a:t>
            </a:r>
            <a:r>
              <a:rPr lang="pt-PT" sz="2000" dirty="0"/>
              <a:t> mensagem = "</a:t>
            </a:r>
            <a:r>
              <a:rPr lang="pt-PT" sz="2000" dirty="0" err="1"/>
              <a:t>Élou</a:t>
            </a:r>
            <a:r>
              <a:rPr lang="pt-PT" sz="2000" dirty="0"/>
              <a:t> </a:t>
            </a:r>
            <a:r>
              <a:rPr lang="pt-PT" sz="2000" dirty="0" err="1"/>
              <a:t>uorld</a:t>
            </a:r>
            <a:r>
              <a:rPr lang="pt-PT" sz="2000" dirty="0"/>
              <a:t>!";</a:t>
            </a:r>
          </a:p>
          <a:p>
            <a:r>
              <a:rPr lang="pt-PT" sz="2000" dirty="0"/>
              <a:t>	</a:t>
            </a:r>
            <a:r>
              <a:rPr lang="pt-PT" sz="2000" b="1" dirty="0" err="1"/>
              <a:t>public</a:t>
            </a:r>
            <a:r>
              <a:rPr lang="pt-PT" sz="2000" dirty="0"/>
              <a:t> </a:t>
            </a:r>
            <a:r>
              <a:rPr lang="pt-PT" sz="2000" dirty="0" err="1"/>
              <a:t>static</a:t>
            </a:r>
            <a:r>
              <a:rPr lang="pt-PT" sz="2000" dirty="0"/>
              <a:t> </a:t>
            </a:r>
            <a:r>
              <a:rPr lang="pt-PT" sz="2000" dirty="0" err="1"/>
              <a:t>void</a:t>
            </a:r>
            <a:r>
              <a:rPr lang="pt-PT" sz="2000" dirty="0"/>
              <a:t> </a:t>
            </a:r>
            <a:r>
              <a:rPr lang="pt-PT" sz="2000" dirty="0" err="1"/>
              <a:t>imprimeMensagem</a:t>
            </a:r>
            <a:r>
              <a:rPr lang="pt-PT" sz="2000" dirty="0"/>
              <a:t>() {</a:t>
            </a:r>
          </a:p>
          <a:p>
            <a:r>
              <a:rPr lang="pt-PT" sz="2000" dirty="0"/>
              <a:t>		// Mostra um texto na tela</a:t>
            </a:r>
          </a:p>
          <a:p>
            <a:r>
              <a:rPr lang="pt-PT" sz="2000" dirty="0"/>
              <a:t>		</a:t>
            </a:r>
            <a:r>
              <a:rPr lang="en-US" sz="2000" dirty="0" err="1"/>
              <a:t>System.out.println</a:t>
            </a:r>
            <a:r>
              <a:rPr lang="en-US" sz="2000" dirty="0"/>
              <a:t>(</a:t>
            </a:r>
            <a:r>
              <a:rPr lang="en-US" sz="2000" dirty="0" err="1"/>
              <a:t>mensagem</a:t>
            </a:r>
            <a:r>
              <a:rPr lang="en-US" sz="2000" dirty="0"/>
              <a:t>);</a:t>
            </a:r>
            <a:endParaRPr lang="pt-PT" sz="2000" dirty="0"/>
          </a:p>
          <a:p>
            <a:r>
              <a:rPr lang="en-US" sz="2000" dirty="0"/>
              <a:t>	}</a:t>
            </a:r>
            <a:endParaRPr lang="pt-PT" sz="2000" dirty="0"/>
          </a:p>
          <a:p>
            <a:r>
              <a:rPr lang="en-US" sz="2000" dirty="0"/>
              <a:t>	</a:t>
            </a:r>
            <a:r>
              <a:rPr lang="en-US" sz="2000" b="1" dirty="0"/>
              <a:t>public static void main(String[] </a:t>
            </a:r>
            <a:r>
              <a:rPr lang="en-US" sz="2000" b="1" dirty="0" err="1"/>
              <a:t>args</a:t>
            </a:r>
            <a:r>
              <a:rPr lang="en-US" sz="2000" b="1" dirty="0"/>
              <a:t>) </a:t>
            </a:r>
            <a:r>
              <a:rPr lang="en-US" sz="2000" dirty="0"/>
              <a:t>{</a:t>
            </a:r>
            <a:endParaRPr lang="pt-PT" sz="2000" dirty="0"/>
          </a:p>
          <a:p>
            <a:r>
              <a:rPr lang="en-US" sz="2000" dirty="0"/>
              <a:t>		</a:t>
            </a:r>
            <a:r>
              <a:rPr lang="pt-PT" sz="2000" dirty="0" err="1"/>
              <a:t>imprimeMensagem</a:t>
            </a:r>
            <a:r>
              <a:rPr lang="pt-PT" sz="2000" dirty="0"/>
              <a:t>();</a:t>
            </a:r>
          </a:p>
          <a:p>
            <a:r>
              <a:rPr lang="pt-PT" sz="2000" dirty="0"/>
              <a:t>	}</a:t>
            </a:r>
          </a:p>
          <a:p>
            <a:r>
              <a:rPr lang="pt-PT" sz="2000" dirty="0" smtClean="0"/>
              <a:t>}</a:t>
            </a:r>
            <a:endParaRPr lang="pt-PT" sz="200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Estrutura básica de um programa</a:t>
            </a:r>
          </a:p>
        </p:txBody>
      </p:sp>
    </p:spTree>
    <p:extLst>
      <p:ext uri="{BB962C8B-B14F-4D97-AF65-F5344CB8AC3E}">
        <p14:creationId xmlns:p14="http://schemas.microsoft.com/office/powerpoint/2010/main" val="43390465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Compilação e execução</a:t>
            </a:r>
            <a:endParaRPr lang="pt-PT" dirty="0"/>
          </a:p>
        </p:txBody>
      </p:sp>
      <p:pic>
        <p:nvPicPr>
          <p:cNvPr id="6" name="Content Placeholder 5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150882" y="1163638"/>
            <a:ext cx="4670330" cy="493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091138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Pré-requisitos e IDE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dirty="0" smtClean="0"/>
              <a:t>Instalar JDK</a:t>
            </a:r>
          </a:p>
          <a:p>
            <a:r>
              <a:rPr lang="pt-PT" dirty="0" smtClean="0"/>
              <a:t>Instalar IDE</a:t>
            </a:r>
          </a:p>
          <a:p>
            <a:r>
              <a:rPr lang="pt-PT" dirty="0" smtClean="0"/>
              <a:t>Compilar programa</a:t>
            </a:r>
          </a:p>
          <a:p>
            <a:r>
              <a:rPr lang="pt-PT" dirty="0" smtClean="0"/>
              <a:t>Executar programa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93743741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Tipos de dados</a:t>
            </a:r>
            <a:endParaRPr lang="pt-PT" dirty="0"/>
          </a:p>
        </p:txBody>
      </p:sp>
      <p:graphicFrame>
        <p:nvGraphicFramePr>
          <p:cNvPr id="10" name="Content Placeholder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80162618"/>
              </p:ext>
            </p:extLst>
          </p:nvPr>
        </p:nvGraphicFramePr>
        <p:xfrm>
          <a:off x="236538" y="1163638"/>
          <a:ext cx="3129280" cy="1735074"/>
        </p:xfrm>
        <a:graphic>
          <a:graphicData uri="http://schemas.openxmlformats.org/drawingml/2006/table">
            <a:tbl>
              <a:tblPr firstRow="1" firstCol="1" bandRow="1"/>
              <a:tblGrid>
                <a:gridCol w="1329055"/>
                <a:gridCol w="989965"/>
                <a:gridCol w="810260"/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Categoria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Tipo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Tamanho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Inteiro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byte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8 bits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Inteiro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short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16 bits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Inteiro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32 bits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Inteiro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long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64 bits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Vírgula flutuante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float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32 bits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Vírgula flutuante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double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64 bits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Caracter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char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16 bits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Lógico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boolean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dirty="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 bit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258524"/>
              </p:ext>
            </p:extLst>
          </p:nvPr>
        </p:nvGraphicFramePr>
        <p:xfrm>
          <a:off x="3440248" y="1187450"/>
          <a:ext cx="5958205" cy="963930"/>
        </p:xfrm>
        <a:graphic>
          <a:graphicData uri="http://schemas.openxmlformats.org/drawingml/2006/table">
            <a:tbl>
              <a:tblPr firstRow="1" firstCol="1" bandRow="1"/>
              <a:tblGrid>
                <a:gridCol w="911860"/>
                <a:gridCol w="1170305"/>
                <a:gridCol w="3876040"/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Tipo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Tamanho (bits)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Variação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byte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-128, +127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short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-32 768, +32 767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-2 147 483 648, +2 147 483 647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long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64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dirty="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-9 223 372 036 854 775 808, +9 223 372 036 854 775 807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2948911"/>
            <a:ext cx="42736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26695">
              <a:spcAft>
                <a:spcPts val="0"/>
              </a:spcAft>
            </a:pPr>
            <a:r>
              <a:rPr lang="pt-PT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</a:rPr>
              <a:t>byte =&gt; short =&gt; </a:t>
            </a:r>
            <a:r>
              <a:rPr lang="pt-PT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pt-PT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</a:rPr>
              <a:t> =&gt; </a:t>
            </a:r>
            <a:r>
              <a:rPr lang="pt-PT" dirty="0" err="1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</a:rPr>
              <a:t>long</a:t>
            </a:r>
            <a:endParaRPr lang="pt-PT" dirty="0">
              <a:solidFill>
                <a:srgbClr val="000000"/>
              </a:solidFill>
              <a:effectLst/>
              <a:latin typeface="Courier New" panose="02070309020205020404" pitchFamily="49" charset="0"/>
              <a:ea typeface="Times New Roman" panose="02020603050405020304" pitchFamily="18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0" y="3264207"/>
            <a:ext cx="1054780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6695">
              <a:spcAft>
                <a:spcPts val="0"/>
              </a:spcAft>
            </a:pPr>
            <a:r>
              <a:rPr lang="pt-PT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</a:rPr>
              <a:t>byte b1 = 126, b2 = 2;</a:t>
            </a:r>
          </a:p>
          <a:p>
            <a:pPr marL="226695">
              <a:spcAft>
                <a:spcPts val="0"/>
              </a:spcAft>
            </a:pPr>
            <a:r>
              <a:rPr lang="pt-PT" dirty="0">
                <a:solidFill>
                  <a:srgbClr val="000000"/>
                </a:solidFill>
                <a:latin typeface="Courier New" panose="02070309020205020404" pitchFamily="49" charset="0"/>
                <a:ea typeface="Times New Roman" panose="02020603050405020304" pitchFamily="18" charset="0"/>
              </a:rPr>
              <a:t>b3 = (byte) (b1 + b2); // Está correto, mas perde informação b3 = -128</a:t>
            </a:r>
            <a:endParaRPr lang="pt-PT" dirty="0">
              <a:solidFill>
                <a:srgbClr val="000000"/>
              </a:solidFill>
              <a:effectLst/>
              <a:latin typeface="Courier New" panose="02070309020205020404" pitchFamily="49" charset="0"/>
              <a:ea typeface="Times New Roman" panose="02020603050405020304" pitchFamily="18" charset="0"/>
            </a:endParaRP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487526"/>
              </p:ext>
            </p:extLst>
          </p:nvPr>
        </p:nvGraphicFramePr>
        <p:xfrm>
          <a:off x="1035050" y="3985340"/>
          <a:ext cx="7573370" cy="2288005"/>
        </p:xfrm>
        <a:graphic>
          <a:graphicData uri="http://schemas.openxmlformats.org/drawingml/2006/table">
            <a:tbl>
              <a:tblPr firstRow="1" firstCol="1" bandRow="1"/>
              <a:tblGrid>
                <a:gridCol w="841060"/>
                <a:gridCol w="841060"/>
                <a:gridCol w="841060"/>
                <a:gridCol w="841060"/>
                <a:gridCol w="841826"/>
                <a:gridCol w="841826"/>
                <a:gridCol w="841826"/>
                <a:gridCol w="841826"/>
                <a:gridCol w="841826"/>
              </a:tblGrid>
              <a:tr h="222225">
                <a:tc rowSpan="2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Tipo origem</a:t>
                      </a:r>
                      <a:endParaRPr lang="pt-PT" sz="1100" dirty="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Tipo origem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</a:tr>
              <a:tr h="287980">
                <a:tc vMerge="1"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byte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short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int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long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float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double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char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boolean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</a:tr>
              <a:tr h="2222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byte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22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short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2222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int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22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long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2222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float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22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double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C, P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2222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char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22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boolean</a:t>
                      </a:r>
                      <a:endParaRPr lang="pt-PT" sz="110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dirty="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254793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Operadores</a:t>
            </a:r>
            <a:endParaRPr lang="pt-PT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913201" y="1468397"/>
            <a:ext cx="6190722" cy="438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1395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Operadores</a:t>
            </a:r>
            <a:endParaRPr lang="pt-PT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915262" y="485592"/>
            <a:ext cx="5264331" cy="614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387750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Operadores Incremento e Decremento</a:t>
            </a:r>
            <a:br>
              <a:rPr lang="pt-PT" dirty="0"/>
            </a:b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lang="pt-PT" dirty="0" smtClean="0">
                <a:ea typeface="SimSun" panose="02010600030101010101" pitchFamily="2" charset="-122"/>
                <a:cs typeface="Times New Roman" panose="02020603050405020304" pitchFamily="18" charset="0"/>
              </a:rPr>
              <a:t>Operador </a:t>
            </a:r>
            <a:r>
              <a:rPr lang="pt-PT" dirty="0">
                <a:ea typeface="SimSun" panose="02010600030101010101" pitchFamily="2" charset="-122"/>
                <a:cs typeface="Times New Roman" panose="02020603050405020304" pitchFamily="18" charset="0"/>
              </a:rPr>
              <a:t>++ incrementa uma unidade ao operando. </a:t>
            </a:r>
          </a:p>
          <a:p>
            <a:pPr marL="226695">
              <a:spcAft>
                <a:spcPts val="0"/>
              </a:spcAft>
            </a:pPr>
            <a:r>
              <a:rPr lang="pt-PT" sz="20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 var1 = 4; </a:t>
            </a:r>
          </a:p>
          <a:p>
            <a:pPr marL="226695">
              <a:spcAft>
                <a:spcPts val="0"/>
              </a:spcAft>
            </a:pP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var1++; //var1 = 5</a:t>
            </a:r>
          </a:p>
          <a:p>
            <a:pPr marL="226695">
              <a:spcAft>
                <a:spcPts val="0"/>
              </a:spcAft>
            </a:pP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</a:p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lang="pt-PT" dirty="0">
                <a:ea typeface="SimSun" panose="02010600030101010101" pitchFamily="2" charset="-122"/>
                <a:cs typeface="Times New Roman" panose="02020603050405020304" pitchFamily="18" charset="0"/>
              </a:rPr>
              <a:t>Operador -- decrementa uma unidade ao operando.</a:t>
            </a:r>
          </a:p>
          <a:p>
            <a:pPr marL="226695">
              <a:spcAft>
                <a:spcPts val="0"/>
              </a:spcAft>
            </a:pPr>
            <a:r>
              <a:rPr lang="pt-PT" sz="20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 var1 = 4; </a:t>
            </a:r>
          </a:p>
          <a:p>
            <a:pPr marL="226695">
              <a:spcAft>
                <a:spcPts val="0"/>
              </a:spcAft>
            </a:pP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var1--; //var1 = 3</a:t>
            </a:r>
          </a:p>
          <a:p>
            <a:pPr marL="226695">
              <a:spcAft>
                <a:spcPts val="0"/>
              </a:spcAft>
            </a:pP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</a:p>
          <a:p>
            <a:pPr algn="just">
              <a:lnSpc>
                <a:spcPct val="115000"/>
              </a:lnSpc>
              <a:spcAft>
                <a:spcPts val="1000"/>
              </a:spcAft>
            </a:pPr>
            <a:r>
              <a:rPr lang="pt-PT" dirty="0">
                <a:ea typeface="SimSun" panose="02010600030101010101" pitchFamily="2" charset="-122"/>
                <a:cs typeface="Times New Roman" panose="02020603050405020304" pitchFamily="18" charset="0"/>
              </a:rPr>
              <a:t>Este decremento ou incremento pode ser feito antes ou depois da utilização da variável. Caso seja antes, primeiro somamos/subtraímos 1 à variável e só depois é que ela é utilizada. Ao contrário, se o operador vier após a variável, primeiro ela é utilizada na expressão e o incremento ou decremento será feito apenas no final. </a:t>
            </a:r>
          </a:p>
          <a:p>
            <a:pPr marL="226695">
              <a:spcAft>
                <a:spcPts val="0"/>
              </a:spcAft>
            </a:pPr>
            <a:r>
              <a:rPr lang="pt-PT" sz="20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 var1 = 2, var2;</a:t>
            </a:r>
          </a:p>
          <a:p>
            <a:pPr marL="226695">
              <a:spcAft>
                <a:spcPts val="0"/>
              </a:spcAft>
            </a:pP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var2 = var1++; //var2 vale 2</a:t>
            </a:r>
          </a:p>
          <a:p>
            <a:pPr marL="226695">
              <a:spcAft>
                <a:spcPts val="0"/>
              </a:spcAft>
            </a:pP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// var1 vale 3</a:t>
            </a:r>
          </a:p>
          <a:p>
            <a:pPr marL="226695">
              <a:spcAft>
                <a:spcPts val="0"/>
              </a:spcAft>
            </a:pP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var2 = ++var1; //var2 vale 4</a:t>
            </a:r>
          </a:p>
          <a:p>
            <a:pPr marL="226695">
              <a:spcAft>
                <a:spcPts val="0"/>
              </a:spcAft>
            </a:pPr>
            <a:r>
              <a:rPr lang="pt-PT" sz="2000" dirty="0">
                <a:latin typeface="Courier New" panose="02070309020205020404" pitchFamily="49" charset="0"/>
                <a:ea typeface="Times New Roman" panose="02020603050405020304" pitchFamily="18" charset="0"/>
              </a:rPr>
              <a:t>// var1 vale 4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283923138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Precedência</a:t>
            </a:r>
            <a:endParaRPr lang="pt-PT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267491521"/>
              </p:ext>
            </p:extLst>
          </p:nvPr>
        </p:nvGraphicFramePr>
        <p:xfrm>
          <a:off x="705394" y="1187453"/>
          <a:ext cx="8267156" cy="4638580"/>
        </p:xfrm>
        <a:graphic>
          <a:graphicData uri="http://schemas.openxmlformats.org/drawingml/2006/table">
            <a:tbl>
              <a:tblPr firstRow="1" firstCol="1" bandRow="1"/>
              <a:tblGrid>
                <a:gridCol w="1440969"/>
                <a:gridCol w="2007536"/>
                <a:gridCol w="3078347"/>
                <a:gridCol w="1740304"/>
              </a:tblGrid>
              <a:tr h="61107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Precedência</a:t>
                      </a:r>
                      <a:endParaRPr lang="pt-PT" sz="1100" dirty="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Operador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Comentários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Associatividade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++ -- !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Operadores unários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* / %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Multiplicação, Divisão, Resto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+ -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Soma, Subtração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&lt;&lt; &gt;&gt;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Shift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31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&lt; &gt; &lt;= &gt;=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Relacionais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== !=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Igualdade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&amp;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Bit/Logical AND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33331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2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^</a:t>
                      </a:r>
                      <a:endParaRPr lang="pt-PT" sz="1100">
                        <a:effectLst/>
                        <a:latin typeface="Arial" panose="020B0604020202020204" pitchFamily="34" charset="0"/>
                        <a:ea typeface="SimSu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Bit/Logical XOR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|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Bit/Logical 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&amp;&amp;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AND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||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L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dirty="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?: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Condicional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553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= += -= *= /= %=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Atribuição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pt-PT" sz="1100" dirty="0">
                          <a:effectLst/>
                          <a:latin typeface="Arial" panose="020B0604020202020204" pitchFamily="34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R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5702023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Instruções IF-ELSE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if (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boolean_expr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en-US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){ </a:t>
            </a:r>
            <a:endParaRPr lang="pt-PT" dirty="0" smtClean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	</a:t>
            </a:r>
            <a:r>
              <a:rPr lang="en-US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comando1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</a:p>
          <a:p>
            <a:pPr marL="226695">
              <a:spcAft>
                <a:spcPts val="0"/>
              </a:spcAft>
            </a:pP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[</a:t>
            </a:r>
            <a:r>
              <a:rPr lang="pt-PT" dirty="0" err="1" smtClean="0">
                <a:latin typeface="Courier New" panose="02070309020205020404" pitchFamily="49" charset="0"/>
                <a:ea typeface="Times New Roman" panose="02020603050405020304" pitchFamily="18" charset="0"/>
              </a:rPr>
              <a:t>elseif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(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boolean_expr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) 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{ </a:t>
            </a:r>
          </a:p>
          <a:p>
            <a:pPr marL="22669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	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comando2;</a:t>
            </a:r>
          </a:p>
          <a:p>
            <a:pPr marL="226695">
              <a:spcAft>
                <a:spcPts val="0"/>
              </a:spcAft>
            </a:pP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}]</a:t>
            </a:r>
          </a:p>
          <a:p>
            <a:pPr marL="22669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[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else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{ </a:t>
            </a:r>
            <a:endParaRPr lang="pt-PT" dirty="0" smtClean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	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comando3; </a:t>
            </a:r>
          </a:p>
          <a:p>
            <a:pPr marL="226695">
              <a:spcAft>
                <a:spcPts val="0"/>
              </a:spcAft>
            </a:pP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}]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3166978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Instruções IF-ELSE exemplo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226695">
              <a:spcAft>
                <a:spcPts val="0"/>
              </a:spcAft>
            </a:pP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if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( ( fim == false) &amp;&amp; (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cont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&lt; 0) ){</a:t>
            </a:r>
          </a:p>
          <a:p>
            <a:pPr marL="226695" indent="222885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cont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++;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}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elseif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( (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fim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== false) &amp;&amp; (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cont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&gt; 0) ){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cont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--;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} else {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cont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= 0;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(“Final!!”);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48958653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Instruções </a:t>
            </a:r>
            <a:r>
              <a:rPr lang="pt-PT" dirty="0" err="1" smtClean="0"/>
              <a:t>Switch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236538" y="1136242"/>
            <a:ext cx="9669462" cy="4932362"/>
          </a:xfrm>
        </p:spPr>
        <p:txBody>
          <a:bodyPr>
            <a:normAutofit fontScale="85000" lnSpcReduction="20000"/>
          </a:bodyPr>
          <a:lstStyle/>
          <a:p>
            <a:pPr marL="226695">
              <a:spcAft>
                <a:spcPts val="0"/>
              </a:spcAft>
            </a:pPr>
            <a:r>
              <a:rPr lang="pt-PT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switch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( expressão ) {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//expressão quando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avaliada 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é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	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                     			    //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um 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char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, byte, short ou 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case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constant1 </a:t>
            </a:r>
            <a:r>
              <a:rPr lang="pt-PT" b="1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:</a:t>
            </a:r>
          </a:p>
          <a:p>
            <a:pPr marL="676275" indent="222885">
              <a:spcAft>
                <a:spcPts val="0"/>
              </a:spcAft>
            </a:pP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comando1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</a:p>
          <a:p>
            <a:pPr marL="453390" indent="445770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break;	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          //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necessário 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o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break para garantir que 		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	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     //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só executamos esta 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instrução </a:t>
            </a:r>
          </a:p>
          <a:p>
            <a:pPr marL="226695" indent="222885">
              <a:spcAft>
                <a:spcPts val="0"/>
              </a:spcAft>
            </a:pPr>
            <a:r>
              <a:rPr lang="pt-PT" b="1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case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constant2 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: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 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  // deve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ser um literal ou uma constante</a:t>
            </a:r>
          </a:p>
          <a:p>
            <a:pPr marL="67627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comando2;</a:t>
            </a:r>
          </a:p>
          <a:p>
            <a:pPr marL="453390" indent="445770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break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...</a:t>
            </a: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[</a:t>
            </a:r>
            <a:r>
              <a:rPr lang="pt-PT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default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:</a:t>
            </a:r>
          </a:p>
          <a:p>
            <a:pPr marL="676275" indent="222885">
              <a:spcAft>
                <a:spcPts val="0"/>
              </a:spcAft>
            </a:pP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comando_default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;]</a:t>
            </a:r>
          </a:p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61868262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Instruções </a:t>
            </a:r>
            <a:r>
              <a:rPr lang="pt-PT" dirty="0" err="1" smtClean="0"/>
              <a:t>Switch</a:t>
            </a:r>
            <a:r>
              <a:rPr lang="pt-PT" dirty="0" smtClean="0"/>
              <a:t> exemplo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451384" y="1136242"/>
            <a:ext cx="6464708" cy="4932362"/>
          </a:xfrm>
        </p:spPr>
        <p:txBody>
          <a:bodyPr>
            <a:normAutofit fontScale="62500" lnSpcReduction="20000"/>
          </a:bodyPr>
          <a:lstStyle/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switch (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cmd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){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case 0: 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453390" indent="445770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(“Item do menu 1”);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676275" indent="22288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menu = ++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cmd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453390" indent="445770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break;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case 1: 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676275" indent="222885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(“Item do menu 2”);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453390" indent="445770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menu = ++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cmd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676275" indent="22288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break;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case 2: 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899160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(“Item do menu 3”);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899160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menu = ++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cmd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676275" indent="22288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break;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default: 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676275" indent="222885">
              <a:spcAft>
                <a:spcPts val="0"/>
              </a:spcAft>
            </a:pP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(“Comando invalido!”);</a:t>
            </a:r>
          </a:p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43874233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20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Instruções </a:t>
            </a:r>
            <a:r>
              <a:rPr lang="pt-PT" dirty="0" err="1" smtClean="0"/>
              <a:t>While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while (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boolean_expr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) {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comandos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</a:p>
          <a:p>
            <a:endParaRPr lang="pt-PT" dirty="0" smtClean="0"/>
          </a:p>
          <a:p>
            <a:pPr marL="226695">
              <a:spcAft>
                <a:spcPts val="0"/>
              </a:spcAft>
            </a:pP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while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( i-- != 0 ){</a:t>
            </a: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salario = salario * 0.5;</a:t>
            </a:r>
          </a:p>
          <a:p>
            <a:pPr marL="22669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85900062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21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Instruções Do-</a:t>
            </a:r>
            <a:r>
              <a:rPr lang="pt-PT" dirty="0" err="1" smtClean="0"/>
              <a:t>While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22669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do {</a:t>
            </a: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comandos;</a:t>
            </a:r>
          </a:p>
          <a:p>
            <a:pPr marL="22669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} </a:t>
            </a:r>
            <a:r>
              <a:rPr lang="pt-PT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while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( 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boolean_expr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);</a:t>
            </a:r>
          </a:p>
          <a:p>
            <a:endParaRPr lang="pt-PT" dirty="0" smtClean="0"/>
          </a:p>
          <a:p>
            <a:pPr marL="22669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do {</a:t>
            </a: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salario = salario * 0.5;</a:t>
            </a: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i--;</a:t>
            </a:r>
          </a:p>
          <a:p>
            <a:pPr marL="22669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r>
              <a:rPr lang="pt-PT" b="1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while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 (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i != 0 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);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726019856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Instruções For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 marL="22669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for (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inicialização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condição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; 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iteração 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)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comandos;</a:t>
            </a:r>
          </a:p>
          <a:p>
            <a:pPr marL="226695">
              <a:spcAft>
                <a:spcPts val="0"/>
              </a:spcAft>
            </a:pPr>
            <a:r>
              <a:rPr lang="pt-PT" b="1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</a:p>
          <a:p>
            <a:pPr marL="226695">
              <a:spcAft>
                <a:spcPts val="0"/>
              </a:spcAft>
            </a:pPr>
            <a:endParaRPr lang="pt-PT" b="1" dirty="0" smtClean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for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(i = 0; i &lt; 20; 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i++)</a:t>
            </a:r>
            <a:r>
              <a:rPr lang="pt-PT" b="1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  <a:endParaRPr lang="pt-PT" b="1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salario = salario * 0.5;</a:t>
            </a:r>
          </a:p>
          <a:p>
            <a:pPr marL="226695">
              <a:spcAft>
                <a:spcPts val="0"/>
              </a:spcAft>
            </a:pPr>
            <a:r>
              <a:rPr lang="pt-PT" b="1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</a:p>
          <a:p>
            <a:pPr marL="226695">
              <a:spcAft>
                <a:spcPts val="0"/>
              </a:spcAft>
            </a:pPr>
            <a:endParaRPr lang="pt-PT" b="1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for (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i = 0 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i &lt; 10 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i++</a:t>
            </a: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){</a:t>
            </a:r>
          </a:p>
          <a:p>
            <a:pPr marL="22669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comando</a:t>
            </a:r>
            <a:r>
              <a:rPr lang="pt-PT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</a:p>
          <a:p>
            <a:pPr marL="226695">
              <a:spcAft>
                <a:spcPts val="0"/>
              </a:spcAft>
            </a:pPr>
            <a:r>
              <a:rPr lang="pt-PT" b="1" dirty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805048496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23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Instrução </a:t>
            </a:r>
            <a:r>
              <a:rPr lang="pt-PT" dirty="0"/>
              <a:t>b</a:t>
            </a:r>
            <a:r>
              <a:rPr lang="pt-PT" dirty="0" smtClean="0"/>
              <a:t>reak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226695">
              <a:spcAft>
                <a:spcPts val="0"/>
              </a:spcAft>
            </a:pP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 = 0;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while (true) {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++);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 indent="222885">
              <a:spcAft>
                <a:spcPts val="0"/>
              </a:spcAft>
            </a:pP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if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( i &gt; 10 ) </a:t>
            </a:r>
          </a:p>
          <a:p>
            <a:pPr marL="676275" indent="222885">
              <a:spcAft>
                <a:spcPts val="0"/>
              </a:spcAft>
            </a:pP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break; // termina a execução do 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while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e passa o 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control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para o // 		 // 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pt-PT" dirty="0">
                <a:latin typeface="Courier New" panose="02070309020205020404" pitchFamily="49" charset="0"/>
                <a:ea typeface="Times New Roman" panose="02020603050405020304" pitchFamily="18" charset="0"/>
              </a:rPr>
              <a:t> fora do </a:t>
            </a:r>
            <a:r>
              <a:rPr lang="pt-PT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while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en-US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pt-PT" dirty="0" smtClean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en-US" dirty="0" err="1" smtClean="0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(“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exemplo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</a:rPr>
              <a:t>”);</a:t>
            </a:r>
            <a:endParaRPr lang="pt-PT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313395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24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Instrução continue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226695">
              <a:spcAft>
                <a:spcPts val="0"/>
              </a:spcAft>
            </a:pPr>
            <a:endParaRPr lang="pt-PT" sz="1800" dirty="0" smtClean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endParaRPr lang="pt-PT" sz="1800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pPr marL="226695">
              <a:spcAft>
                <a:spcPts val="0"/>
              </a:spcAft>
            </a:pPr>
            <a:r>
              <a:rPr lang="pt-PT" sz="1800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for </a:t>
            </a:r>
            <a:r>
              <a:rPr lang="pt-PT" sz="1800" dirty="0">
                <a:latin typeface="Courier New" panose="02070309020205020404" pitchFamily="49" charset="0"/>
                <a:ea typeface="Times New Roman" panose="02020603050405020304" pitchFamily="18" charset="0"/>
              </a:rPr>
              <a:t>(</a:t>
            </a:r>
            <a:r>
              <a:rPr lang="pt-PT" sz="18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int</a:t>
            </a:r>
            <a:r>
              <a:rPr lang="pt-PT" sz="1800" dirty="0">
                <a:latin typeface="Courier New" panose="02070309020205020404" pitchFamily="49" charset="0"/>
                <a:ea typeface="Times New Roman" panose="02020603050405020304" pitchFamily="18" charset="0"/>
              </a:rPr>
              <a:t> i = -10; i&lt;10; i++)</a:t>
            </a:r>
          </a:p>
          <a:p>
            <a:pPr marL="226695">
              <a:spcAft>
                <a:spcPts val="0"/>
              </a:spcAft>
            </a:pPr>
            <a:r>
              <a:rPr lang="pt-PT" sz="1800" dirty="0">
                <a:latin typeface="Courier New" panose="02070309020205020404" pitchFamily="49" charset="0"/>
                <a:ea typeface="Times New Roman" panose="02020603050405020304" pitchFamily="18" charset="0"/>
              </a:rPr>
              <a:t>{</a:t>
            </a:r>
          </a:p>
          <a:p>
            <a:pPr marL="226695" indent="222885">
              <a:spcAft>
                <a:spcPts val="0"/>
              </a:spcAft>
            </a:pPr>
            <a:r>
              <a:rPr lang="pt-PT" sz="18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if</a:t>
            </a:r>
            <a:r>
              <a:rPr lang="pt-PT" sz="1800" dirty="0">
                <a:latin typeface="Courier New" panose="02070309020205020404" pitchFamily="49" charset="0"/>
                <a:ea typeface="Times New Roman" panose="02020603050405020304" pitchFamily="18" charset="0"/>
              </a:rPr>
              <a:t> ( i == 0 )</a:t>
            </a:r>
          </a:p>
          <a:p>
            <a:pPr marL="676275" indent="222885">
              <a:spcAft>
                <a:spcPts val="0"/>
              </a:spcAft>
            </a:pPr>
            <a:r>
              <a:rPr lang="pt-PT" sz="1800" dirty="0">
                <a:latin typeface="Courier New" panose="02070309020205020404" pitchFamily="49" charset="0"/>
                <a:ea typeface="Times New Roman" panose="02020603050405020304" pitchFamily="18" charset="0"/>
              </a:rPr>
              <a:t>continue</a:t>
            </a:r>
            <a:r>
              <a:rPr lang="pt-PT" sz="1800" dirty="0" smtClean="0">
                <a:latin typeface="Courier New" panose="02070309020205020404" pitchFamily="49" charset="0"/>
                <a:ea typeface="Times New Roman" panose="02020603050405020304" pitchFamily="18" charset="0"/>
              </a:rPr>
              <a:t>;</a:t>
            </a:r>
            <a:r>
              <a:rPr lang="pt-PT" sz="1800" dirty="0">
                <a:latin typeface="Courier New" panose="02070309020205020404" pitchFamily="49" charset="0"/>
                <a:ea typeface="Times New Roman" panose="02020603050405020304" pitchFamily="18" charset="0"/>
              </a:rPr>
              <a:t> </a:t>
            </a:r>
          </a:p>
          <a:p>
            <a:pPr marL="226695" indent="222885">
              <a:spcAft>
                <a:spcPts val="0"/>
              </a:spcAft>
            </a:pPr>
            <a:r>
              <a:rPr lang="pt-PT" sz="1800" dirty="0" err="1">
                <a:latin typeface="Courier New" panose="02070309020205020404" pitchFamily="49" charset="0"/>
                <a:ea typeface="Times New Roman" panose="02020603050405020304" pitchFamily="18" charset="0"/>
              </a:rPr>
              <a:t>System.out.println</a:t>
            </a:r>
            <a:r>
              <a:rPr lang="pt-PT" sz="1800" dirty="0">
                <a:latin typeface="Courier New" panose="02070309020205020404" pitchFamily="49" charset="0"/>
                <a:ea typeface="Times New Roman" panose="02020603050405020304" pitchFamily="18" charset="0"/>
              </a:rPr>
              <a:t>(1/i); </a:t>
            </a:r>
            <a:r>
              <a:rPr lang="pt-PT" sz="1400" dirty="0">
                <a:latin typeface="Courier New" panose="02070309020205020404" pitchFamily="49" charset="0"/>
                <a:ea typeface="Times New Roman" panose="02020603050405020304" pitchFamily="18" charset="0"/>
              </a:rPr>
              <a:t>//Não é executado o cálculo 1/0 !!</a:t>
            </a:r>
          </a:p>
          <a:p>
            <a:pPr marL="226695">
              <a:spcAft>
                <a:spcPts val="0"/>
              </a:spcAft>
            </a:pPr>
            <a:r>
              <a:rPr lang="en-US" sz="1800" dirty="0">
                <a:latin typeface="Courier New" panose="02070309020205020404" pitchFamily="49" charset="0"/>
                <a:ea typeface="Times New Roman" panose="02020603050405020304" pitchFamily="18" charset="0"/>
              </a:rPr>
              <a:t>}</a:t>
            </a:r>
            <a:endParaRPr lang="pt-PT" sz="1800" dirty="0">
              <a:latin typeface="Courier New" panose="02070309020205020404" pitchFamily="49" charset="0"/>
              <a:ea typeface="Times New Roman" panose="02020603050405020304" pitchFamily="18" charset="0"/>
            </a:endParaRP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412419544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25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b="1" dirty="0" smtClean="0"/>
              <a:t>1.1</a:t>
            </a:r>
            <a:r>
              <a:rPr lang="pt-PT" dirty="0" smtClean="0"/>
              <a:t> Elabore um programa que permita realizar </a:t>
            </a:r>
            <a:r>
              <a:rPr lang="pt-PT" dirty="0"/>
              <a:t>o cálculo da distância euclidiana </a:t>
            </a:r>
            <a:r>
              <a:rPr lang="pt-PT" dirty="0" smtClean="0"/>
              <a:t>entre dois </a:t>
            </a:r>
            <a:r>
              <a:rPr lang="pt-PT" dirty="0"/>
              <a:t>pontos, sendo </a:t>
            </a:r>
            <a:r>
              <a:rPr lang="pt-PT" dirty="0" smtClean="0"/>
              <a:t>que, cada </a:t>
            </a:r>
            <a:r>
              <a:rPr lang="pt-PT" dirty="0"/>
              <a:t>ponto é definido pelas coordenadas (x</a:t>
            </a:r>
            <a:r>
              <a:rPr lang="pt-PT" dirty="0" smtClean="0"/>
              <a:t>, y</a:t>
            </a:r>
            <a:r>
              <a:rPr lang="pt-PT" dirty="0"/>
              <a:t>). </a:t>
            </a:r>
            <a:endParaRPr lang="pt-PT" dirty="0" smtClean="0"/>
          </a:p>
          <a:p>
            <a:r>
              <a:rPr lang="pt-PT" dirty="0" smtClean="0"/>
              <a:t>A distância pode </a:t>
            </a:r>
            <a:r>
              <a:rPr lang="pt-PT" dirty="0"/>
              <a:t>ser calculada de acordo com a </a:t>
            </a:r>
            <a:r>
              <a:rPr lang="pt-PT" dirty="0" smtClean="0"/>
              <a:t>fórmula</a:t>
            </a:r>
          </a:p>
          <a:p>
            <a:endParaRPr lang="pt-PT" dirty="0"/>
          </a:p>
          <a:p>
            <a:endParaRPr lang="pt-PT" dirty="0" smtClean="0"/>
          </a:p>
          <a:p>
            <a:r>
              <a:rPr lang="pt-PT" b="1" dirty="0"/>
              <a:t>1.2.</a:t>
            </a:r>
            <a:r>
              <a:rPr lang="pt-PT" dirty="0"/>
              <a:t> Crie um método que aceite as coordenadas de dois pontos e devolva a </a:t>
            </a:r>
            <a:r>
              <a:rPr lang="pt-PT" dirty="0" smtClean="0"/>
              <a:t>distância </a:t>
            </a:r>
            <a:r>
              <a:rPr lang="pt-PT" dirty="0"/>
              <a:t>calculada no ponto 1.1</a:t>
            </a:r>
          </a:p>
          <a:p>
            <a:endParaRPr lang="pt-PT" dirty="0"/>
          </a:p>
          <a:p>
            <a:r>
              <a:rPr lang="pt-PT" b="1" dirty="0"/>
              <a:t>1.3.</a:t>
            </a:r>
            <a:r>
              <a:rPr lang="pt-PT" dirty="0"/>
              <a:t> Crie um novo programa que utilize o método criado na alínea anterior</a:t>
            </a:r>
          </a:p>
          <a:p>
            <a:endParaRPr lang="pt-PT" dirty="0" smtClean="0"/>
          </a:p>
          <a:p>
            <a:endParaRPr lang="pt-PT" dirty="0"/>
          </a:p>
          <a:p>
            <a:endParaRPr lang="pt-PT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902" y="3145726"/>
            <a:ext cx="6937194" cy="516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586975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26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b="1" dirty="0"/>
              <a:t>2.</a:t>
            </a:r>
            <a:r>
              <a:rPr lang="pt-PT" dirty="0"/>
              <a:t> Crie um programa que permita calcular o perímetro e a área de uma circunferência a partir do valor do raio</a:t>
            </a:r>
          </a:p>
          <a:p>
            <a:endParaRPr lang="pt-PT" dirty="0" smtClean="0"/>
          </a:p>
          <a:p>
            <a:endParaRPr lang="pt-PT" dirty="0" smtClean="0"/>
          </a:p>
          <a:p>
            <a:endParaRPr lang="pt-PT" dirty="0"/>
          </a:p>
          <a:p>
            <a:r>
              <a:rPr lang="pt-PT" b="1" dirty="0"/>
              <a:t>3.</a:t>
            </a:r>
            <a:r>
              <a:rPr lang="pt-PT" dirty="0"/>
              <a:t> Crie um programa que permita calcular o IMC de um indivíduo dados o seu peso e a altura.</a:t>
            </a:r>
          </a:p>
        </p:txBody>
      </p:sp>
      <p:pic>
        <p:nvPicPr>
          <p:cNvPr id="2050" name="Picture 2" descr="times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209" y="2188393"/>
            <a:ext cx="2739538" cy="220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 descr="pi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5769" y="2684509"/>
            <a:ext cx="3444564" cy="2676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tex2png--20 (1)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3880" y="3087054"/>
            <a:ext cx="2440908" cy="317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286" y="4970714"/>
            <a:ext cx="2543503" cy="66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655580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27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b="1" dirty="0" smtClean="0"/>
              <a:t>4.</a:t>
            </a:r>
            <a:r>
              <a:rPr lang="pt-PT" dirty="0" smtClean="0"/>
              <a:t> Escreva um programa que a partir de um número de segundos calcule o número de horas minutos e segundos correspondentes.</a:t>
            </a:r>
          </a:p>
          <a:p>
            <a:r>
              <a:rPr lang="pt-PT" dirty="0" smtClean="0"/>
              <a:t>	</a:t>
            </a:r>
            <a:r>
              <a:rPr lang="pt-PT" sz="1800" dirty="0" smtClean="0"/>
              <a:t>Exemplo: 	8053s	= 2h 14m 13s</a:t>
            </a:r>
          </a:p>
          <a:p>
            <a:r>
              <a:rPr lang="pt-PT" b="1" dirty="0" smtClean="0"/>
              <a:t>5. </a:t>
            </a:r>
            <a:r>
              <a:rPr lang="pt-PT" dirty="0" smtClean="0"/>
              <a:t>Escreva um programa para determinar a hipotenusa de um triangulo retângulo dados os catetos.</a:t>
            </a:r>
          </a:p>
          <a:p>
            <a:endParaRPr lang="pt-PT" dirty="0"/>
          </a:p>
          <a:p>
            <a:r>
              <a:rPr lang="pt-PT" b="1" dirty="0" smtClean="0"/>
              <a:t>6.</a:t>
            </a:r>
            <a:r>
              <a:rPr lang="pt-PT" dirty="0" smtClean="0"/>
              <a:t> Escreva um programa que permita converter uma temperatura em graus Fahrenheit para graus Celsius.</a:t>
            </a:r>
          </a:p>
          <a:p>
            <a:endParaRPr lang="pt-PT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069" y="5518974"/>
            <a:ext cx="4891586" cy="79028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069" y="3949474"/>
            <a:ext cx="4246518" cy="344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0003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28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b="1" dirty="0" smtClean="0"/>
              <a:t>7.</a:t>
            </a:r>
            <a:r>
              <a:rPr lang="pt-PT" dirty="0" smtClean="0"/>
              <a:t> Altere o programa 1 e imprima a mensagem “Pontos coincidentes” caso os pontos sejam coincidentes.</a:t>
            </a:r>
          </a:p>
          <a:p>
            <a:endParaRPr lang="pt-PT" dirty="0"/>
          </a:p>
          <a:p>
            <a:r>
              <a:rPr lang="pt-PT" b="1" dirty="0" smtClean="0"/>
              <a:t>8.</a:t>
            </a:r>
            <a:r>
              <a:rPr lang="pt-PT" dirty="0" smtClean="0"/>
              <a:t> Crie um programa que permita determinar o maior número entre 3 possíveis valores.</a:t>
            </a:r>
          </a:p>
          <a:p>
            <a:endParaRPr lang="pt-PT" dirty="0"/>
          </a:p>
          <a:p>
            <a:r>
              <a:rPr lang="pt-PT" b="1" dirty="0" smtClean="0"/>
              <a:t>9.</a:t>
            </a:r>
            <a:r>
              <a:rPr lang="pt-PT" dirty="0" smtClean="0"/>
              <a:t> Mesmo exercício que o 8 mas considerando 5 números.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181601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29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sz="1800" b="1" dirty="0" smtClean="0"/>
              <a:t>10.</a:t>
            </a:r>
            <a:r>
              <a:rPr lang="pt-PT" sz="1800" dirty="0" smtClean="0"/>
              <a:t> Sabendo que é possível ler um caracter da consola (interação com o utilizador) utilizando o método:</a:t>
            </a:r>
          </a:p>
          <a:p>
            <a:r>
              <a:rPr lang="pt-PT" sz="1800" dirty="0" err="1" smtClean="0"/>
              <a:t>int</a:t>
            </a:r>
            <a:r>
              <a:rPr lang="pt-PT" sz="1800" dirty="0" smtClean="0"/>
              <a:t> </a:t>
            </a:r>
            <a:r>
              <a:rPr lang="pt-PT" sz="1800" dirty="0" err="1" smtClean="0"/>
              <a:t>System.in.read</a:t>
            </a:r>
            <a:r>
              <a:rPr lang="pt-PT" sz="1800" dirty="0" smtClean="0"/>
              <a:t>()</a:t>
            </a:r>
          </a:p>
          <a:p>
            <a:r>
              <a:rPr lang="pt-PT" sz="1800" dirty="0" smtClean="0"/>
              <a:t>Necessário definir na primeira linha</a:t>
            </a:r>
          </a:p>
          <a:p>
            <a:r>
              <a:rPr lang="pt-PT" sz="1800" dirty="0" smtClean="0"/>
              <a:t>	</a:t>
            </a:r>
            <a:r>
              <a:rPr lang="pt-PT" sz="1800" dirty="0" err="1" smtClean="0"/>
              <a:t>import</a:t>
            </a:r>
            <a:r>
              <a:rPr lang="pt-PT" sz="1800" dirty="0" smtClean="0"/>
              <a:t> </a:t>
            </a:r>
            <a:r>
              <a:rPr lang="pt-PT" sz="1800" dirty="0" err="1" smtClean="0"/>
              <a:t>java.io.IOException</a:t>
            </a:r>
            <a:r>
              <a:rPr lang="pt-PT" sz="1800" dirty="0" smtClean="0"/>
              <a:t>;</a:t>
            </a:r>
          </a:p>
          <a:p>
            <a:r>
              <a:rPr lang="pt-PT" sz="1800" dirty="0" smtClean="0"/>
              <a:t>.. </a:t>
            </a:r>
          </a:p>
          <a:p>
            <a:r>
              <a:rPr lang="pt-PT" sz="1800" dirty="0" smtClean="0"/>
              <a:t>… </a:t>
            </a:r>
            <a:r>
              <a:rPr lang="pt-PT" sz="1800" dirty="0" err="1" smtClean="0"/>
              <a:t>main</a:t>
            </a:r>
            <a:r>
              <a:rPr lang="pt-PT" sz="1800" dirty="0" smtClean="0"/>
              <a:t> … </a:t>
            </a:r>
            <a:r>
              <a:rPr lang="pt-PT" sz="1800" dirty="0" err="1" smtClean="0"/>
              <a:t>throws</a:t>
            </a:r>
            <a:r>
              <a:rPr lang="pt-PT" sz="1800" dirty="0" smtClean="0"/>
              <a:t> </a:t>
            </a:r>
            <a:r>
              <a:rPr lang="pt-PT" sz="1800" dirty="0" err="1" smtClean="0"/>
              <a:t>IOException</a:t>
            </a:r>
            <a:endParaRPr lang="pt-PT" sz="1800" dirty="0" smtClean="0"/>
          </a:p>
          <a:p>
            <a:r>
              <a:rPr lang="pt-PT" sz="1800" dirty="0" smtClean="0"/>
              <a:t>Exemplo:</a:t>
            </a:r>
          </a:p>
          <a:p>
            <a:r>
              <a:rPr lang="pt-PT" sz="1800" dirty="0" smtClean="0"/>
              <a:t> </a:t>
            </a:r>
            <a:r>
              <a:rPr lang="pt-PT" sz="1800" dirty="0" err="1" smtClean="0"/>
              <a:t>int</a:t>
            </a:r>
            <a:r>
              <a:rPr lang="pt-PT" sz="1800" dirty="0" smtClean="0"/>
              <a:t> </a:t>
            </a:r>
            <a:r>
              <a:rPr lang="pt-PT" sz="1800" dirty="0" err="1" smtClean="0"/>
              <a:t>valorIntroduzido</a:t>
            </a:r>
            <a:r>
              <a:rPr lang="pt-PT" sz="1800" dirty="0" smtClean="0"/>
              <a:t> = </a:t>
            </a:r>
            <a:r>
              <a:rPr lang="pt-PT" sz="1800" dirty="0" err="1" smtClean="0"/>
              <a:t>System.in.read</a:t>
            </a:r>
            <a:r>
              <a:rPr lang="pt-PT" sz="1800" dirty="0" smtClean="0"/>
              <a:t>(); // retorna um valor entre 0 e 255 (tabela </a:t>
            </a:r>
            <a:r>
              <a:rPr lang="pt-PT" sz="1800" dirty="0" err="1" smtClean="0"/>
              <a:t>ascii</a:t>
            </a:r>
            <a:r>
              <a:rPr lang="pt-PT" sz="1800" dirty="0" smtClean="0"/>
              <a:t>)</a:t>
            </a:r>
          </a:p>
          <a:p>
            <a:r>
              <a:rPr lang="pt-PT" sz="1800" b="1" dirty="0" smtClean="0"/>
              <a:t>a)</a:t>
            </a:r>
            <a:r>
              <a:rPr lang="pt-PT" sz="1800" dirty="0" smtClean="0"/>
              <a:t> Faça um programa que permita ler um caracter e o imprima na consola;</a:t>
            </a:r>
          </a:p>
          <a:p>
            <a:r>
              <a:rPr lang="pt-PT" sz="1800" b="1" dirty="0" smtClean="0"/>
              <a:t>b)</a:t>
            </a:r>
            <a:r>
              <a:rPr lang="pt-PT" sz="1800" dirty="0" smtClean="0"/>
              <a:t> Mostre também o valor em decimal (tabela ASCII) do caracter lido.</a:t>
            </a:r>
          </a:p>
        </p:txBody>
      </p:sp>
    </p:spTree>
    <p:extLst>
      <p:ext uri="{BB962C8B-B14F-4D97-AF65-F5344CB8AC3E}">
        <p14:creationId xmlns:p14="http://schemas.microsoft.com/office/powerpoint/2010/main" val="240013668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30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b="1" dirty="0" smtClean="0"/>
              <a:t>11.</a:t>
            </a:r>
            <a:r>
              <a:rPr lang="pt-PT" dirty="0" smtClean="0"/>
              <a:t> </a:t>
            </a:r>
          </a:p>
          <a:p>
            <a:r>
              <a:rPr lang="pt-PT" b="1" dirty="0" smtClean="0"/>
              <a:t>a)</a:t>
            </a:r>
            <a:r>
              <a:rPr lang="pt-PT" dirty="0" smtClean="0"/>
              <a:t> Com base no exercício anterior faça um programa que peça ao utilizados o seu nome e o imprima na consola.</a:t>
            </a:r>
          </a:p>
          <a:p>
            <a:r>
              <a:rPr lang="pt-PT" b="1" dirty="0" smtClean="0"/>
              <a:t>	Dica:</a:t>
            </a:r>
            <a:r>
              <a:rPr lang="pt-PT" dirty="0" smtClean="0"/>
              <a:t> Crie um método que permita ler uma </a:t>
            </a:r>
            <a:r>
              <a:rPr lang="pt-PT" dirty="0" err="1" smtClean="0"/>
              <a:t>String</a:t>
            </a:r>
            <a:endParaRPr lang="pt-PT" dirty="0" smtClean="0"/>
          </a:p>
          <a:p>
            <a:r>
              <a:rPr lang="pt-PT" b="1" dirty="0" smtClean="0"/>
              <a:t>	Dica 2:</a:t>
            </a:r>
            <a:r>
              <a:rPr lang="pt-PT" dirty="0" smtClean="0"/>
              <a:t> USEM Ciclos??!!</a:t>
            </a:r>
          </a:p>
          <a:p>
            <a:r>
              <a:rPr lang="pt-PT" b="1" dirty="0" smtClean="0"/>
              <a:t>b) </a:t>
            </a:r>
            <a:r>
              <a:rPr lang="pt-PT" dirty="0" smtClean="0"/>
              <a:t>Leia um número e apresente o dobro do valor que leu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4818549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31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b="1" dirty="0" smtClean="0"/>
              <a:t>12.</a:t>
            </a:r>
            <a:r>
              <a:rPr lang="pt-PT" dirty="0" smtClean="0"/>
              <a:t> Faça um programa (na máquina virtual) que imprima a tabela ASCII, deve imprimir o valor decimal e o caracter que o representa</a:t>
            </a:r>
          </a:p>
          <a:p>
            <a:endParaRPr lang="pt-PT" dirty="0"/>
          </a:p>
          <a:p>
            <a:r>
              <a:rPr lang="pt-PT" b="1" dirty="0" smtClean="0"/>
              <a:t>Para quem achar muito fácil: </a:t>
            </a:r>
            <a:r>
              <a:rPr lang="pt-PT" dirty="0" smtClean="0"/>
              <a:t>Imprima a tabela em colunas de no máximo 16 linhas cada.</a:t>
            </a:r>
          </a:p>
        </p:txBody>
      </p:sp>
    </p:spTree>
    <p:extLst>
      <p:ext uri="{BB962C8B-B14F-4D97-AF65-F5344CB8AC3E}">
        <p14:creationId xmlns:p14="http://schemas.microsoft.com/office/powerpoint/2010/main" val="2184691942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32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Strings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dirty="0" err="1" smtClean="0"/>
              <a:t>String</a:t>
            </a:r>
            <a:r>
              <a:rPr lang="pt-PT" dirty="0" smtClean="0"/>
              <a:t> </a:t>
            </a:r>
            <a:r>
              <a:rPr lang="pt-PT" dirty="0"/>
              <a:t>categoria = “Ação”;</a:t>
            </a:r>
          </a:p>
          <a:p>
            <a:r>
              <a:rPr lang="pt-PT" dirty="0" err="1"/>
              <a:t>String</a:t>
            </a:r>
            <a:r>
              <a:rPr lang="pt-PT" dirty="0"/>
              <a:t> nome = </a:t>
            </a:r>
            <a:r>
              <a:rPr lang="pt-PT" dirty="0" err="1"/>
              <a:t>primeiroNome</a:t>
            </a:r>
            <a:r>
              <a:rPr lang="pt-PT" dirty="0"/>
              <a:t> + “ ” + </a:t>
            </a:r>
            <a:r>
              <a:rPr lang="pt-PT" dirty="0" err="1"/>
              <a:t>ultimoNome</a:t>
            </a:r>
            <a:r>
              <a:rPr lang="pt-PT" dirty="0"/>
              <a:t>;</a:t>
            </a:r>
          </a:p>
          <a:p>
            <a:r>
              <a:rPr lang="en-US" dirty="0"/>
              <a:t>String </a:t>
            </a:r>
            <a:r>
              <a:rPr lang="en-US" dirty="0" err="1"/>
              <a:t>nome</a:t>
            </a:r>
            <a:r>
              <a:rPr lang="en-US" dirty="0"/>
              <a:t> = new String(“Joe Smith”);</a:t>
            </a:r>
            <a:endParaRPr lang="pt-PT" dirty="0"/>
          </a:p>
          <a:p>
            <a:r>
              <a:rPr lang="pt-PT" dirty="0" err="1"/>
              <a:t>String</a:t>
            </a:r>
            <a:r>
              <a:rPr lang="pt-PT" dirty="0"/>
              <a:t> nome = “San </a:t>
            </a:r>
            <a:r>
              <a:rPr lang="pt-PT" dirty="0" err="1"/>
              <a:t>Wong</a:t>
            </a:r>
            <a:r>
              <a:rPr lang="pt-PT" dirty="0"/>
              <a:t>”;</a:t>
            </a:r>
          </a:p>
          <a:p>
            <a:r>
              <a:rPr lang="en-US" dirty="0"/>
              <a:t>String </a:t>
            </a:r>
            <a:r>
              <a:rPr lang="en-US" dirty="0" err="1"/>
              <a:t>nome</a:t>
            </a:r>
            <a:r>
              <a:rPr lang="en-US" dirty="0"/>
              <a:t> = “Sam “ + “Wong”;</a:t>
            </a:r>
            <a:endParaRPr lang="pt-PT" dirty="0"/>
          </a:p>
          <a:p>
            <a:r>
              <a:rPr lang="en-US" dirty="0"/>
              <a:t>String </a:t>
            </a:r>
            <a:r>
              <a:rPr lang="en-US" dirty="0" err="1"/>
              <a:t>nome</a:t>
            </a:r>
            <a:r>
              <a:rPr lang="en-US" dirty="0"/>
              <a:t> = “Sam ”.</a:t>
            </a:r>
            <a:r>
              <a:rPr lang="en-US" dirty="0" err="1"/>
              <a:t>concat</a:t>
            </a:r>
            <a:r>
              <a:rPr lang="en-US" dirty="0"/>
              <a:t>(“Wong</a:t>
            </a:r>
            <a:r>
              <a:rPr lang="en-US" dirty="0" smtClean="0"/>
              <a:t>”);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184438120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33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Strings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dirty="0" err="1"/>
              <a:t>int</a:t>
            </a:r>
            <a:r>
              <a:rPr lang="pt-PT" dirty="0"/>
              <a:t> idade = 25;</a:t>
            </a:r>
          </a:p>
          <a:p>
            <a:r>
              <a:rPr lang="pt-PT" dirty="0" err="1"/>
              <a:t>System.out.println</a:t>
            </a:r>
            <a:r>
              <a:rPr lang="pt-PT" dirty="0"/>
              <a:t>(“Idade = ” + idade</a:t>
            </a:r>
            <a:r>
              <a:rPr lang="pt-PT" dirty="0" smtClean="0"/>
              <a:t>);</a:t>
            </a:r>
          </a:p>
          <a:p>
            <a:endParaRPr lang="pt-PT" dirty="0"/>
          </a:p>
          <a:p>
            <a:r>
              <a:rPr lang="pt-PT" dirty="0" err="1"/>
              <a:t>String</a:t>
            </a:r>
            <a:r>
              <a:rPr lang="pt-PT" dirty="0"/>
              <a:t> categoria = “Ação”;</a:t>
            </a:r>
          </a:p>
          <a:p>
            <a:r>
              <a:rPr lang="pt-PT" dirty="0" err="1"/>
              <a:t>String</a:t>
            </a:r>
            <a:r>
              <a:rPr lang="pt-PT" dirty="0"/>
              <a:t> nome = </a:t>
            </a:r>
            <a:r>
              <a:rPr lang="pt-PT" dirty="0" err="1"/>
              <a:t>primeiroNome</a:t>
            </a:r>
            <a:r>
              <a:rPr lang="pt-PT" dirty="0"/>
              <a:t> + “ ” + </a:t>
            </a:r>
            <a:r>
              <a:rPr lang="pt-PT" dirty="0" err="1"/>
              <a:t>ultimoNome</a:t>
            </a:r>
            <a:r>
              <a:rPr lang="pt-PT" dirty="0"/>
              <a:t>;</a:t>
            </a:r>
          </a:p>
          <a:p>
            <a:r>
              <a:rPr lang="en-US" dirty="0"/>
              <a:t>String </a:t>
            </a:r>
            <a:r>
              <a:rPr lang="en-US" dirty="0" err="1"/>
              <a:t>nome</a:t>
            </a:r>
            <a:r>
              <a:rPr lang="en-US" dirty="0"/>
              <a:t> = new String(“Joe Smith”);</a:t>
            </a:r>
            <a:endParaRPr lang="pt-PT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8739942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34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Strings</a:t>
            </a:r>
            <a:r>
              <a:rPr lang="pt-PT" dirty="0" smtClean="0"/>
              <a:t> - operações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String </a:t>
            </a:r>
            <a:r>
              <a:rPr lang="en-US" dirty="0" err="1"/>
              <a:t>categoria</a:t>
            </a:r>
            <a:r>
              <a:rPr lang="en-US" dirty="0"/>
              <a:t> = “</a:t>
            </a:r>
            <a:r>
              <a:rPr lang="en-US" dirty="0" err="1"/>
              <a:t>Comedia</a:t>
            </a:r>
            <a:r>
              <a:rPr lang="en-US" dirty="0"/>
              <a:t>”;</a:t>
            </a:r>
            <a:endParaRPr lang="pt-PT" dirty="0"/>
          </a:p>
          <a:p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len</a:t>
            </a:r>
            <a:r>
              <a:rPr lang="en-US" dirty="0"/>
              <a:t> = </a:t>
            </a:r>
            <a:r>
              <a:rPr lang="en-US" dirty="0" err="1"/>
              <a:t>categoria.length</a:t>
            </a:r>
            <a:r>
              <a:rPr lang="en-US" dirty="0" smtClean="0"/>
              <a:t>();</a:t>
            </a:r>
          </a:p>
          <a:p>
            <a:endParaRPr lang="en-US" dirty="0"/>
          </a:p>
          <a:p>
            <a:r>
              <a:rPr lang="pt-PT" dirty="0" err="1"/>
              <a:t>String</a:t>
            </a:r>
            <a:r>
              <a:rPr lang="pt-PT" dirty="0"/>
              <a:t> categoria = “Comedia”;</a:t>
            </a:r>
          </a:p>
          <a:p>
            <a:r>
              <a:rPr lang="pt-PT" dirty="0" err="1"/>
              <a:t>char</a:t>
            </a:r>
            <a:r>
              <a:rPr lang="pt-PT" dirty="0"/>
              <a:t> c = </a:t>
            </a:r>
            <a:r>
              <a:rPr lang="pt-PT" dirty="0" err="1"/>
              <a:t>categoria.charAt</a:t>
            </a:r>
            <a:r>
              <a:rPr lang="pt-PT" dirty="0"/>
              <a:t>(1);</a:t>
            </a:r>
          </a:p>
          <a:p>
            <a:endParaRPr lang="pt-PT" dirty="0" smtClean="0"/>
          </a:p>
          <a:p>
            <a:r>
              <a:rPr lang="en-US" dirty="0"/>
              <a:t>String </a:t>
            </a:r>
            <a:r>
              <a:rPr lang="en-US" dirty="0" err="1"/>
              <a:t>categoria</a:t>
            </a:r>
            <a:r>
              <a:rPr lang="en-US" dirty="0"/>
              <a:t> = “</a:t>
            </a:r>
            <a:r>
              <a:rPr lang="en-US" dirty="0" err="1"/>
              <a:t>Comedia</a:t>
            </a:r>
            <a:r>
              <a:rPr lang="en-US" dirty="0"/>
              <a:t>” ;</a:t>
            </a:r>
            <a:endParaRPr lang="pt-PT" dirty="0"/>
          </a:p>
          <a:p>
            <a:r>
              <a:rPr lang="en-US" dirty="0"/>
              <a:t>String sub = </a:t>
            </a:r>
            <a:r>
              <a:rPr lang="en-US" dirty="0" err="1"/>
              <a:t>categoria.substring</a:t>
            </a:r>
            <a:r>
              <a:rPr lang="en-US" dirty="0"/>
              <a:t>(2,4)</a:t>
            </a:r>
            <a:endParaRPr lang="pt-PT" dirty="0"/>
          </a:p>
          <a:p>
            <a:endParaRPr lang="pt-PT" dirty="0" smtClean="0"/>
          </a:p>
          <a:p>
            <a:r>
              <a:rPr lang="pt-PT" dirty="0" err="1"/>
              <a:t>String</a:t>
            </a:r>
            <a:r>
              <a:rPr lang="pt-PT" dirty="0"/>
              <a:t> </a:t>
            </a:r>
            <a:r>
              <a:rPr lang="pt-PT" dirty="0" err="1"/>
              <a:t>toUpperCase</a:t>
            </a:r>
            <a:r>
              <a:rPr lang="pt-PT" dirty="0"/>
              <a:t>()</a:t>
            </a:r>
          </a:p>
          <a:p>
            <a:r>
              <a:rPr lang="pt-PT" dirty="0" err="1"/>
              <a:t>String</a:t>
            </a:r>
            <a:r>
              <a:rPr lang="pt-PT" dirty="0"/>
              <a:t> </a:t>
            </a:r>
            <a:r>
              <a:rPr lang="pt-PT" dirty="0" err="1"/>
              <a:t>toLowerCase</a:t>
            </a:r>
            <a:r>
              <a:rPr lang="pt-PT" dirty="0"/>
              <a:t>()</a:t>
            </a:r>
          </a:p>
          <a:p>
            <a:endParaRPr lang="pt-PT" dirty="0" smtClean="0"/>
          </a:p>
          <a:p>
            <a:r>
              <a:rPr lang="pt-PT" dirty="0" err="1"/>
              <a:t>String</a:t>
            </a:r>
            <a:r>
              <a:rPr lang="pt-PT" dirty="0"/>
              <a:t> </a:t>
            </a:r>
            <a:r>
              <a:rPr lang="pt-PT" dirty="0" err="1"/>
              <a:t>comEspaco</a:t>
            </a:r>
            <a:r>
              <a:rPr lang="pt-PT" dirty="0"/>
              <a:t> = “ XXX   “;</a:t>
            </a:r>
          </a:p>
          <a:p>
            <a:r>
              <a:rPr lang="pt-PT" dirty="0" err="1"/>
              <a:t>String</a:t>
            </a:r>
            <a:r>
              <a:rPr lang="pt-PT" dirty="0"/>
              <a:t> </a:t>
            </a:r>
            <a:r>
              <a:rPr lang="pt-PT" dirty="0" err="1"/>
              <a:t>semEspaco</a:t>
            </a:r>
            <a:r>
              <a:rPr lang="pt-PT" dirty="0"/>
              <a:t> = </a:t>
            </a:r>
            <a:r>
              <a:rPr lang="pt-PT" dirty="0" err="1"/>
              <a:t>comEspaco.trim</a:t>
            </a:r>
            <a:r>
              <a:rPr lang="pt-PT" dirty="0"/>
              <a:t>();</a:t>
            </a:r>
          </a:p>
          <a:p>
            <a:endParaRPr lang="pt-PT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573068078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35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Strings</a:t>
            </a:r>
            <a:r>
              <a:rPr lang="pt-PT" dirty="0" smtClean="0"/>
              <a:t> - operações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String </a:t>
            </a:r>
            <a:r>
              <a:rPr lang="en-US" dirty="0" err="1"/>
              <a:t>str</a:t>
            </a:r>
            <a:r>
              <a:rPr lang="en-US" dirty="0"/>
              <a:t> = “XXXYXXY”;</a:t>
            </a:r>
            <a:endParaRPr lang="pt-PT" dirty="0"/>
          </a:p>
          <a:p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= </a:t>
            </a:r>
            <a:r>
              <a:rPr lang="en-US" dirty="0" err="1"/>
              <a:t>str.indexOf</a:t>
            </a:r>
            <a:r>
              <a:rPr lang="en-US" dirty="0"/>
              <a:t> (“Y”); // </a:t>
            </a:r>
            <a:r>
              <a:rPr lang="en-US" dirty="0" err="1"/>
              <a:t>i</a:t>
            </a:r>
            <a:r>
              <a:rPr lang="en-US" dirty="0"/>
              <a:t> = 3</a:t>
            </a:r>
            <a:endParaRPr lang="pt-PT" dirty="0"/>
          </a:p>
          <a:p>
            <a:r>
              <a:rPr lang="en-US" dirty="0"/>
              <a:t> </a:t>
            </a:r>
            <a:endParaRPr lang="pt-PT" dirty="0"/>
          </a:p>
          <a:p>
            <a:r>
              <a:rPr lang="en-US" dirty="0"/>
              <a:t>String </a:t>
            </a:r>
            <a:r>
              <a:rPr lang="en-US" dirty="0" err="1"/>
              <a:t>str</a:t>
            </a:r>
            <a:r>
              <a:rPr lang="en-US" dirty="0"/>
              <a:t> = “XXXYXXY”;</a:t>
            </a:r>
            <a:endParaRPr lang="pt-PT" dirty="0"/>
          </a:p>
          <a:p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= </a:t>
            </a:r>
            <a:r>
              <a:rPr lang="en-US" dirty="0" err="1"/>
              <a:t>str.lastIndexOf</a:t>
            </a:r>
            <a:r>
              <a:rPr lang="en-US" dirty="0"/>
              <a:t>(“Y”); // </a:t>
            </a:r>
            <a:r>
              <a:rPr lang="en-US" dirty="0" err="1"/>
              <a:t>i</a:t>
            </a:r>
            <a:r>
              <a:rPr lang="en-US" dirty="0"/>
              <a:t> = </a:t>
            </a:r>
            <a:r>
              <a:rPr lang="en-US" dirty="0" smtClean="0"/>
              <a:t>6</a:t>
            </a:r>
          </a:p>
          <a:p>
            <a:endParaRPr lang="en-US" dirty="0"/>
          </a:p>
          <a:p>
            <a:r>
              <a:rPr lang="en-US" dirty="0"/>
              <a:t>String </a:t>
            </a:r>
            <a:r>
              <a:rPr lang="en-US" dirty="0" err="1"/>
              <a:t>passwd</a:t>
            </a:r>
            <a:r>
              <a:rPr lang="en-US" dirty="0"/>
              <a:t> = </a:t>
            </a:r>
            <a:r>
              <a:rPr lang="en-US" dirty="0" err="1"/>
              <a:t>connection.getPassword</a:t>
            </a:r>
            <a:r>
              <a:rPr lang="en-US" dirty="0"/>
              <a:t>();</a:t>
            </a:r>
            <a:endParaRPr lang="pt-PT" dirty="0"/>
          </a:p>
          <a:p>
            <a:r>
              <a:rPr lang="en-US" dirty="0"/>
              <a:t>if (</a:t>
            </a:r>
            <a:r>
              <a:rPr lang="en-US" dirty="0" err="1"/>
              <a:t>passwd.equals</a:t>
            </a:r>
            <a:r>
              <a:rPr lang="en-US" dirty="0"/>
              <a:t>(“</a:t>
            </a:r>
            <a:r>
              <a:rPr lang="en-US" dirty="0" err="1"/>
              <a:t>fgHPUw</a:t>
            </a:r>
            <a:r>
              <a:rPr lang="en-US" dirty="0"/>
              <a:t>”)) ...</a:t>
            </a:r>
            <a:endParaRPr lang="pt-PT" dirty="0"/>
          </a:p>
          <a:p>
            <a:r>
              <a:rPr lang="en-US" dirty="0"/>
              <a:t> </a:t>
            </a:r>
            <a:endParaRPr lang="pt-PT" dirty="0"/>
          </a:p>
          <a:p>
            <a:r>
              <a:rPr lang="en-US" dirty="0"/>
              <a:t>String </a:t>
            </a:r>
            <a:r>
              <a:rPr lang="en-US" dirty="0" err="1"/>
              <a:t>categoria</a:t>
            </a:r>
            <a:r>
              <a:rPr lang="en-US" dirty="0"/>
              <a:t> = “</a:t>
            </a:r>
            <a:r>
              <a:rPr lang="en-US" dirty="0" err="1"/>
              <a:t>Comedia</a:t>
            </a:r>
            <a:r>
              <a:rPr lang="en-US" dirty="0"/>
              <a:t>”;</a:t>
            </a:r>
            <a:endParaRPr lang="pt-PT" dirty="0"/>
          </a:p>
          <a:p>
            <a:r>
              <a:rPr lang="en-US" dirty="0"/>
              <a:t>if (</a:t>
            </a:r>
            <a:r>
              <a:rPr lang="en-US" dirty="0" err="1"/>
              <a:t>categoria.</a:t>
            </a:r>
            <a:r>
              <a:rPr lang="en-US" b="1" dirty="0" err="1"/>
              <a:t>equalsIgnoreCase</a:t>
            </a:r>
            <a:r>
              <a:rPr lang="en-US" dirty="0"/>
              <a:t>(“Drama”))</a:t>
            </a:r>
            <a:endParaRPr lang="pt-PT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93968788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36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Strings</a:t>
            </a:r>
            <a:r>
              <a:rPr lang="pt-PT" dirty="0" smtClean="0"/>
              <a:t> - operações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pt-PT" dirty="0" err="1"/>
              <a:t>String</a:t>
            </a:r>
            <a:r>
              <a:rPr lang="pt-PT" dirty="0"/>
              <a:t> sete = </a:t>
            </a:r>
            <a:r>
              <a:rPr lang="pt-PT" dirty="0" err="1"/>
              <a:t>String.valueOf</a:t>
            </a:r>
            <a:r>
              <a:rPr lang="pt-PT" dirty="0"/>
              <a:t>(7);</a:t>
            </a:r>
          </a:p>
          <a:p>
            <a:r>
              <a:rPr lang="en-US" dirty="0"/>
              <a:t>String </a:t>
            </a:r>
            <a:r>
              <a:rPr lang="en-US" dirty="0" err="1"/>
              <a:t>umPontoZero</a:t>
            </a:r>
            <a:r>
              <a:rPr lang="en-US" dirty="0"/>
              <a:t> = </a:t>
            </a:r>
            <a:r>
              <a:rPr lang="en-US" dirty="0" err="1"/>
              <a:t>String.valueOf</a:t>
            </a:r>
            <a:r>
              <a:rPr lang="en-US" dirty="0"/>
              <a:t>(1.0f);</a:t>
            </a:r>
            <a:endParaRPr lang="pt-PT" dirty="0"/>
          </a:p>
          <a:p>
            <a:endParaRPr lang="pt-PT" dirty="0" smtClean="0"/>
          </a:p>
          <a:p>
            <a:r>
              <a:rPr lang="pt-PT" dirty="0" smtClean="0"/>
              <a:t>Curiosidade:</a:t>
            </a:r>
          </a:p>
          <a:p>
            <a:r>
              <a:rPr lang="pt-PT" dirty="0" smtClean="0"/>
              <a:t>	</a:t>
            </a:r>
            <a:r>
              <a:rPr lang="pt-PT" dirty="0" err="1" smtClean="0"/>
              <a:t>int</a:t>
            </a:r>
            <a:r>
              <a:rPr lang="pt-PT" dirty="0" smtClean="0"/>
              <a:t> </a:t>
            </a:r>
            <a:r>
              <a:rPr lang="pt-PT" dirty="0"/>
              <a:t>valor = </a:t>
            </a:r>
            <a:r>
              <a:rPr lang="pt-PT" dirty="0" err="1"/>
              <a:t>Integer.parseInt</a:t>
            </a:r>
            <a:r>
              <a:rPr lang="pt-PT" dirty="0"/>
              <a:t>(“10”);</a:t>
            </a:r>
          </a:p>
          <a:p>
            <a:r>
              <a:rPr lang="pt-PT" dirty="0" smtClean="0"/>
              <a:t>	</a:t>
            </a:r>
            <a:r>
              <a:rPr lang="pt-PT" dirty="0" err="1" smtClean="0"/>
              <a:t>float</a:t>
            </a:r>
            <a:r>
              <a:rPr lang="pt-PT" dirty="0" smtClean="0"/>
              <a:t> </a:t>
            </a:r>
            <a:r>
              <a:rPr lang="pt-PT" dirty="0"/>
              <a:t>valor = </a:t>
            </a:r>
            <a:r>
              <a:rPr lang="pt-PT" dirty="0" err="1"/>
              <a:t>Float.parseFloat</a:t>
            </a:r>
            <a:r>
              <a:rPr lang="pt-PT" dirty="0"/>
              <a:t>(“10.00”);</a:t>
            </a:r>
          </a:p>
          <a:p>
            <a:endParaRPr lang="pt-PT" dirty="0" smtClean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76779204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37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Strings</a:t>
            </a:r>
            <a:r>
              <a:rPr lang="pt-PT" dirty="0" smtClean="0"/>
              <a:t> - buffer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pt-PT" dirty="0" err="1"/>
              <a:t>String</a:t>
            </a:r>
            <a:r>
              <a:rPr lang="pt-PT" dirty="0"/>
              <a:t> texto = “Tinha uma pedra”;</a:t>
            </a:r>
          </a:p>
          <a:p>
            <a:r>
              <a:rPr lang="pt-PT" dirty="0"/>
              <a:t>texto = texto + “no meio do caminho”;</a:t>
            </a:r>
          </a:p>
          <a:p>
            <a:r>
              <a:rPr lang="pt-PT" dirty="0"/>
              <a:t>texto = texto + “, no meio do caminho tinha uma pedra.”</a:t>
            </a:r>
          </a:p>
          <a:p>
            <a:endParaRPr lang="pt-PT" dirty="0" smtClean="0"/>
          </a:p>
          <a:p>
            <a:endParaRPr lang="pt-PT" dirty="0"/>
          </a:p>
          <a:p>
            <a:r>
              <a:rPr lang="pt-PT" dirty="0" err="1"/>
              <a:t>StringBuffer</a:t>
            </a:r>
            <a:r>
              <a:rPr lang="pt-PT" dirty="0"/>
              <a:t> texto = </a:t>
            </a:r>
            <a:r>
              <a:rPr lang="pt-PT" dirty="0" err="1"/>
              <a:t>new</a:t>
            </a:r>
            <a:r>
              <a:rPr lang="pt-PT" dirty="0"/>
              <a:t> </a:t>
            </a:r>
            <a:r>
              <a:rPr lang="pt-PT" dirty="0" err="1"/>
              <a:t>StringBuffer</a:t>
            </a:r>
            <a:r>
              <a:rPr lang="pt-PT" dirty="0"/>
              <a:t>(“Tinha uma pedra”);</a:t>
            </a:r>
          </a:p>
          <a:p>
            <a:r>
              <a:rPr lang="pt-PT" dirty="0" err="1"/>
              <a:t>texto.append</a:t>
            </a:r>
            <a:r>
              <a:rPr lang="pt-PT" dirty="0"/>
              <a:t>(“ no meio do caminho”);</a:t>
            </a:r>
          </a:p>
          <a:p>
            <a:r>
              <a:rPr lang="pt-PT" dirty="0" err="1"/>
              <a:t>texto.append</a:t>
            </a:r>
            <a:r>
              <a:rPr lang="pt-PT" dirty="0"/>
              <a:t>(“, no meio do caminho tinha uma pedra.”);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188483217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38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dirty="0">
                <a:hlinkClick r:id="rId2"/>
              </a:rPr>
              <a:t>http://</a:t>
            </a:r>
            <a:r>
              <a:rPr lang="pt-PT" dirty="0" smtClean="0">
                <a:hlinkClick r:id="rId2"/>
              </a:rPr>
              <a:t>www.oracle.com/technetwork/java/javase/documentation/jdk8-doc-downloads-2133158.html</a:t>
            </a:r>
            <a:endParaRPr lang="pt-PT" dirty="0" smtClean="0"/>
          </a:p>
          <a:p>
            <a:endParaRPr lang="pt-PT" dirty="0"/>
          </a:p>
          <a:p>
            <a:r>
              <a:rPr lang="pt-PT" dirty="0" smtClean="0"/>
              <a:t>Exercícios:</a:t>
            </a:r>
          </a:p>
          <a:p>
            <a:r>
              <a:rPr lang="pt-PT" dirty="0">
                <a:hlinkClick r:id="rId3"/>
              </a:rPr>
              <a:t>https://</a:t>
            </a:r>
            <a:r>
              <a:rPr lang="pt-PT" dirty="0" smtClean="0">
                <a:hlinkClick r:id="rId3"/>
              </a:rPr>
              <a:t>github.com/unshityourself/FLG0789</a:t>
            </a:r>
            <a:endParaRPr lang="pt-PT" dirty="0" smtClean="0"/>
          </a:p>
          <a:p>
            <a:endParaRPr lang="pt-PT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Offline </a:t>
            </a:r>
            <a:r>
              <a:rPr lang="pt-PT" dirty="0" err="1" smtClean="0"/>
              <a:t>Javadoc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93216942"/>
      </p:ext>
    </p:extLst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39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Arrays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PT" dirty="0" err="1"/>
              <a:t>type</a:t>
            </a:r>
            <a:r>
              <a:rPr lang="pt-PT" dirty="0"/>
              <a:t>[] </a:t>
            </a:r>
            <a:r>
              <a:rPr lang="pt-PT" dirty="0" err="1"/>
              <a:t>arrayName</a:t>
            </a:r>
            <a:r>
              <a:rPr lang="pt-PT" dirty="0"/>
              <a:t>;</a:t>
            </a:r>
          </a:p>
          <a:p>
            <a:r>
              <a:rPr lang="pt-PT" dirty="0"/>
              <a:t>ou</a:t>
            </a:r>
          </a:p>
          <a:p>
            <a:r>
              <a:rPr lang="pt-PT" dirty="0" err="1"/>
              <a:t>type</a:t>
            </a:r>
            <a:r>
              <a:rPr lang="pt-PT" dirty="0"/>
              <a:t> </a:t>
            </a:r>
            <a:r>
              <a:rPr lang="pt-PT" dirty="0" err="1"/>
              <a:t>arrayName</a:t>
            </a:r>
            <a:r>
              <a:rPr lang="pt-PT" dirty="0"/>
              <a:t>[];</a:t>
            </a:r>
          </a:p>
          <a:p>
            <a:endParaRPr lang="pt-PT" dirty="0" smtClean="0"/>
          </a:p>
          <a:p>
            <a:r>
              <a:rPr lang="pt-PT" b="1" dirty="0" smtClean="0"/>
              <a:t>Exemplo</a:t>
            </a:r>
            <a:r>
              <a:rPr lang="pt-PT" b="1" dirty="0"/>
              <a:t>:</a:t>
            </a:r>
            <a:r>
              <a:rPr lang="pt-PT" dirty="0"/>
              <a:t> </a:t>
            </a:r>
            <a:endParaRPr lang="pt-PT" dirty="0" smtClean="0"/>
          </a:p>
          <a:p>
            <a:r>
              <a:rPr lang="pt-PT" dirty="0" err="1" smtClean="0"/>
              <a:t>int</a:t>
            </a:r>
            <a:r>
              <a:rPr lang="pt-PT" dirty="0"/>
              <a:t>[] </a:t>
            </a:r>
            <a:r>
              <a:rPr lang="pt-PT" dirty="0" err="1"/>
              <a:t>powers</a:t>
            </a:r>
            <a:r>
              <a:rPr lang="pt-PT" dirty="0"/>
              <a:t>; // tem o valor </a:t>
            </a:r>
            <a:r>
              <a:rPr lang="pt-PT" dirty="0" err="1"/>
              <a:t>null</a:t>
            </a:r>
            <a:r>
              <a:rPr lang="pt-PT" dirty="0"/>
              <a:t> enquanto não for criado</a:t>
            </a:r>
          </a:p>
          <a:p>
            <a:r>
              <a:rPr lang="en-US" dirty="0" smtClean="0"/>
              <a:t>powers </a:t>
            </a:r>
            <a:r>
              <a:rPr lang="en-US" dirty="0"/>
              <a:t>= new </a:t>
            </a:r>
            <a:r>
              <a:rPr lang="en-US" dirty="0" err="1"/>
              <a:t>int</a:t>
            </a:r>
            <a:r>
              <a:rPr lang="en-US" dirty="0"/>
              <a:t>[4</a:t>
            </a:r>
            <a:r>
              <a:rPr lang="en-US" dirty="0" smtClean="0"/>
              <a:t>];</a:t>
            </a:r>
          </a:p>
          <a:p>
            <a:endParaRPr lang="pt-PT" dirty="0"/>
          </a:p>
          <a:p>
            <a:r>
              <a:rPr lang="pt-PT" b="1" dirty="0" smtClean="0"/>
              <a:t>Utilizar inicializadores</a:t>
            </a:r>
          </a:p>
          <a:p>
            <a:r>
              <a:rPr lang="pt-PT" dirty="0" err="1" smtClean="0"/>
              <a:t>int</a:t>
            </a:r>
            <a:r>
              <a:rPr lang="pt-PT" dirty="0"/>
              <a:t>[] primes = {2,3,5,7</a:t>
            </a:r>
            <a:r>
              <a:rPr lang="pt-PT" dirty="0" smtClean="0"/>
              <a:t>};</a:t>
            </a:r>
          </a:p>
          <a:p>
            <a:endParaRPr lang="pt-PT" dirty="0"/>
          </a:p>
          <a:p>
            <a:r>
              <a:rPr lang="pt-PT" b="1" dirty="0"/>
              <a:t>Atribuir valores a </a:t>
            </a:r>
            <a:r>
              <a:rPr lang="pt-PT" b="1" dirty="0" smtClean="0"/>
              <a:t>um </a:t>
            </a:r>
            <a:r>
              <a:rPr lang="pt-PT" b="1" dirty="0"/>
              <a:t>elemento do </a:t>
            </a:r>
            <a:r>
              <a:rPr lang="pt-PT" b="1" dirty="0" err="1"/>
              <a:t>array</a:t>
            </a:r>
            <a:r>
              <a:rPr lang="pt-PT" dirty="0" smtClean="0"/>
              <a:t>:</a:t>
            </a:r>
          </a:p>
          <a:p>
            <a:r>
              <a:rPr lang="pt-PT" dirty="0" err="1" smtClean="0"/>
              <a:t>arrayName</a:t>
            </a:r>
            <a:r>
              <a:rPr lang="pt-PT" dirty="0" smtClean="0"/>
              <a:t>[</a:t>
            </a:r>
            <a:r>
              <a:rPr lang="pt-PT" dirty="0" err="1" smtClean="0"/>
              <a:t>index</a:t>
            </a:r>
            <a:r>
              <a:rPr lang="pt-PT" dirty="0"/>
              <a:t>] = </a:t>
            </a:r>
            <a:r>
              <a:rPr lang="pt-PT" dirty="0" err="1"/>
              <a:t>value</a:t>
            </a:r>
            <a:r>
              <a:rPr lang="pt-PT" dirty="0"/>
              <a:t>;</a:t>
            </a:r>
          </a:p>
          <a:p>
            <a:endParaRPr lang="pt-PT" dirty="0"/>
          </a:p>
          <a:p>
            <a:endParaRPr lang="pt-PT" dirty="0" smtClean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30300046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40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Arrays</a:t>
            </a:r>
            <a:r>
              <a:rPr lang="pt-PT" dirty="0" smtClean="0"/>
              <a:t> – tipos primitivos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lvl="0"/>
            <a:r>
              <a:rPr lang="pt-PT" dirty="0" smtClean="0"/>
              <a:t>Após a criação do </a:t>
            </a:r>
            <a:r>
              <a:rPr lang="pt-PT" dirty="0" err="1" smtClean="0"/>
              <a:t>array</a:t>
            </a:r>
            <a:r>
              <a:rPr lang="pt-PT" dirty="0" smtClean="0"/>
              <a:t>, tipos primitivos inicializados com:</a:t>
            </a:r>
          </a:p>
          <a:p>
            <a:pPr lvl="0"/>
            <a:endParaRPr lang="pt-PT" dirty="0" smtClean="0"/>
          </a:p>
          <a:p>
            <a:pPr lvl="0"/>
            <a:r>
              <a:rPr lang="pt-PT" b="1" dirty="0" err="1" smtClean="0"/>
              <a:t>char</a:t>
            </a:r>
            <a:r>
              <a:rPr lang="pt-PT" b="1" dirty="0"/>
              <a:t>:</a:t>
            </a:r>
            <a:r>
              <a:rPr lang="pt-PT" dirty="0"/>
              <a:t> ‘\u0000’ (Valor Unicode para 0000);</a:t>
            </a:r>
          </a:p>
          <a:p>
            <a:pPr lvl="0"/>
            <a:r>
              <a:rPr lang="en-US" b="1" dirty="0"/>
              <a:t>byte, short, </a:t>
            </a:r>
            <a:r>
              <a:rPr lang="en-US" b="1" dirty="0" err="1"/>
              <a:t>int</a:t>
            </a:r>
            <a:r>
              <a:rPr lang="en-US" b="1" dirty="0"/>
              <a:t> e long:</a:t>
            </a:r>
            <a:r>
              <a:rPr lang="en-US" dirty="0"/>
              <a:t> 0;</a:t>
            </a:r>
            <a:endParaRPr lang="pt-PT" dirty="0"/>
          </a:p>
          <a:p>
            <a:pPr lvl="0"/>
            <a:r>
              <a:rPr lang="en-US" b="1" dirty="0" err="1"/>
              <a:t>boolean</a:t>
            </a:r>
            <a:r>
              <a:rPr lang="en-US" b="1" dirty="0"/>
              <a:t>:</a:t>
            </a:r>
            <a:r>
              <a:rPr lang="en-US" dirty="0"/>
              <a:t> false;</a:t>
            </a:r>
            <a:endParaRPr lang="pt-PT" dirty="0"/>
          </a:p>
          <a:p>
            <a:pPr lvl="0"/>
            <a:r>
              <a:rPr lang="en-US" b="1" dirty="0"/>
              <a:t>float e double:</a:t>
            </a:r>
            <a:r>
              <a:rPr lang="en-US" dirty="0"/>
              <a:t> </a:t>
            </a:r>
            <a:r>
              <a:rPr lang="en-US" dirty="0" smtClean="0"/>
              <a:t>0.0</a:t>
            </a:r>
          </a:p>
          <a:p>
            <a:pPr lvl="0"/>
            <a:endParaRPr lang="en-US" dirty="0"/>
          </a:p>
          <a:p>
            <a:pPr lvl="0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28672882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41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Arrays</a:t>
            </a:r>
            <a:r>
              <a:rPr lang="pt-PT" dirty="0" smtClean="0"/>
              <a:t> – referências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pt-PT" sz="2600" dirty="0" err="1"/>
              <a:t>String</a:t>
            </a:r>
            <a:r>
              <a:rPr lang="pt-PT" sz="2600" dirty="0"/>
              <a:t>[] categorias;</a:t>
            </a:r>
          </a:p>
          <a:p>
            <a:r>
              <a:rPr lang="pt-PT" sz="2600" dirty="0"/>
              <a:t>categorias = </a:t>
            </a:r>
            <a:r>
              <a:rPr lang="pt-PT" sz="2600" dirty="0" err="1"/>
              <a:t>new</a:t>
            </a:r>
            <a:r>
              <a:rPr lang="pt-PT" sz="2600" dirty="0"/>
              <a:t> </a:t>
            </a:r>
            <a:r>
              <a:rPr lang="pt-PT" sz="2600" dirty="0" err="1"/>
              <a:t>String</a:t>
            </a:r>
            <a:r>
              <a:rPr lang="pt-PT" sz="2600" dirty="0"/>
              <a:t>[3]; // cada elemento aponta para </a:t>
            </a:r>
            <a:r>
              <a:rPr lang="pt-PT" sz="2600" dirty="0" err="1"/>
              <a:t>null</a:t>
            </a:r>
            <a:endParaRPr lang="pt-PT" sz="2200" dirty="0"/>
          </a:p>
          <a:p>
            <a:pPr lvl="0"/>
            <a:endParaRPr lang="pt-PT" dirty="0" smtClean="0"/>
          </a:p>
          <a:p>
            <a:pPr lvl="0"/>
            <a:r>
              <a:rPr lang="pt-PT" b="1" dirty="0" smtClean="0"/>
              <a:t>Exemplo 1:</a:t>
            </a:r>
          </a:p>
          <a:p>
            <a:r>
              <a:rPr lang="en-US" dirty="0"/>
              <a:t>String[] </a:t>
            </a:r>
            <a:r>
              <a:rPr lang="en-US" dirty="0" err="1"/>
              <a:t>arr</a:t>
            </a:r>
            <a:r>
              <a:rPr lang="en-US" dirty="0"/>
              <a:t> = new String[4];</a:t>
            </a:r>
            <a:endParaRPr lang="pt-PT" dirty="0"/>
          </a:p>
          <a:p>
            <a:r>
              <a:rPr lang="en-US" dirty="0"/>
              <a:t>for (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b="1" dirty="0" err="1"/>
              <a:t>arr.length</a:t>
            </a:r>
            <a:r>
              <a:rPr lang="en-US" dirty="0"/>
              <a:t>; </a:t>
            </a:r>
            <a:r>
              <a:rPr lang="en-US" dirty="0" err="1"/>
              <a:t>i</a:t>
            </a:r>
            <a:r>
              <a:rPr lang="en-US" dirty="0"/>
              <a:t>++ </a:t>
            </a:r>
            <a:r>
              <a:rPr lang="en-US" dirty="0" smtClean="0"/>
              <a:t>){</a:t>
            </a:r>
            <a:endParaRPr lang="pt-PT" dirty="0"/>
          </a:p>
          <a:p>
            <a:r>
              <a:rPr lang="pt-PT" dirty="0" smtClean="0"/>
              <a:t>	</a:t>
            </a:r>
            <a:r>
              <a:rPr lang="pt-PT" dirty="0" err="1" smtClean="0"/>
              <a:t>arr</a:t>
            </a:r>
            <a:r>
              <a:rPr lang="pt-PT" dirty="0" smtClean="0"/>
              <a:t>[i</a:t>
            </a:r>
            <a:r>
              <a:rPr lang="pt-PT" dirty="0"/>
              <a:t>] = </a:t>
            </a:r>
            <a:r>
              <a:rPr lang="pt-PT" dirty="0" err="1"/>
              <a:t>new</a:t>
            </a:r>
            <a:r>
              <a:rPr lang="pt-PT" dirty="0"/>
              <a:t> </a:t>
            </a:r>
            <a:r>
              <a:rPr lang="pt-PT" dirty="0" err="1"/>
              <a:t>String</a:t>
            </a:r>
            <a:r>
              <a:rPr lang="pt-PT" dirty="0"/>
              <a:t>();</a:t>
            </a:r>
          </a:p>
          <a:p>
            <a:r>
              <a:rPr lang="pt-PT" dirty="0"/>
              <a:t>}</a:t>
            </a:r>
          </a:p>
          <a:p>
            <a:endParaRPr lang="pt-PT" b="1" dirty="0" smtClean="0"/>
          </a:p>
          <a:p>
            <a:r>
              <a:rPr lang="pt-PT" b="1" dirty="0" smtClean="0"/>
              <a:t>Exemplo 2:</a:t>
            </a:r>
            <a:endParaRPr lang="pt-PT" dirty="0" smtClean="0"/>
          </a:p>
          <a:p>
            <a:r>
              <a:rPr lang="pt-PT" dirty="0" err="1"/>
              <a:t>String</a:t>
            </a:r>
            <a:r>
              <a:rPr lang="pt-PT" dirty="0"/>
              <a:t>[] categorias = { “Ação”, “Comédia”, “Drama” };</a:t>
            </a:r>
          </a:p>
          <a:p>
            <a:pPr lvl="0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19398942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42</a:t>
            </a:fld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 smtClean="0"/>
              <a:t>Arrays</a:t>
            </a:r>
            <a:r>
              <a:rPr lang="pt-PT" dirty="0" smtClean="0"/>
              <a:t> – multidimensionais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type[][] </a:t>
            </a:r>
            <a:r>
              <a:rPr lang="en-US" dirty="0" err="1"/>
              <a:t>arrayName</a:t>
            </a:r>
            <a:r>
              <a:rPr lang="en-US" dirty="0"/>
              <a:t> = new type[n1][n2];</a:t>
            </a:r>
            <a:endParaRPr lang="pt-PT" dirty="0"/>
          </a:p>
          <a:p>
            <a:pPr lvl="0"/>
            <a:endParaRPr lang="pt-PT" dirty="0" smtClean="0"/>
          </a:p>
          <a:p>
            <a:r>
              <a:rPr lang="en-US" dirty="0" err="1"/>
              <a:t>int</a:t>
            </a:r>
            <a:r>
              <a:rPr lang="en-US" dirty="0"/>
              <a:t> [] [] aux = new </a:t>
            </a:r>
            <a:r>
              <a:rPr lang="en-US" dirty="0" err="1"/>
              <a:t>int</a:t>
            </a:r>
            <a:r>
              <a:rPr lang="en-US" dirty="0"/>
              <a:t> [4][2]; </a:t>
            </a:r>
            <a:endParaRPr lang="pt-PT" dirty="0"/>
          </a:p>
          <a:p>
            <a:r>
              <a:rPr lang="pt-PT" dirty="0" err="1"/>
              <a:t>aux</a:t>
            </a:r>
            <a:r>
              <a:rPr lang="pt-PT" dirty="0"/>
              <a:t> [0][0] = 1;</a:t>
            </a:r>
          </a:p>
          <a:p>
            <a:r>
              <a:rPr lang="pt-PT" dirty="0" err="1"/>
              <a:t>aux</a:t>
            </a:r>
            <a:r>
              <a:rPr lang="pt-PT" dirty="0"/>
              <a:t> [0][1] = 7;</a:t>
            </a:r>
          </a:p>
          <a:p>
            <a:pPr lvl="0"/>
            <a:endParaRPr lang="pt-PT" dirty="0"/>
          </a:p>
        </p:txBody>
      </p:sp>
      <p:pic>
        <p:nvPicPr>
          <p:cNvPr id="6" name="Picture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4704" y="1892868"/>
            <a:ext cx="4986202" cy="39462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5796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43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b="1" dirty="0" smtClean="0"/>
              <a:t>13.1.</a:t>
            </a:r>
            <a:r>
              <a:rPr lang="pt-PT" dirty="0" smtClean="0"/>
              <a:t> Solicite o nome completo </a:t>
            </a:r>
            <a:r>
              <a:rPr lang="pt-PT" dirty="0"/>
              <a:t>a</a:t>
            </a:r>
            <a:r>
              <a:rPr lang="pt-PT" dirty="0" smtClean="0"/>
              <a:t>o utilizador e apresente o seguinte: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dirty="0" smtClean="0"/>
              <a:t>Tamanho total do nome (X caracteres);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dirty="0" smtClean="0"/>
              <a:t>Local onde aparece pela primeira vez o caracter ‘a’ ou o ‘A’;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dirty="0" smtClean="0"/>
              <a:t>Local onde aparece pela última vez o caracter ‘0’;</a:t>
            </a:r>
            <a:endParaRPr lang="pt-PT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5875341"/>
      </p:ext>
    </p:extLst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44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PT" b="1" dirty="0" smtClean="0"/>
              <a:t>13.2.</a:t>
            </a:r>
            <a:r>
              <a:rPr lang="pt-PT" dirty="0" smtClean="0"/>
              <a:t> Solicite o nome completo </a:t>
            </a:r>
            <a:r>
              <a:rPr lang="pt-PT" dirty="0"/>
              <a:t>a</a:t>
            </a:r>
            <a:r>
              <a:rPr lang="pt-PT" dirty="0" smtClean="0"/>
              <a:t>o utilizador e apresente o nome no formato </a:t>
            </a:r>
          </a:p>
          <a:p>
            <a:r>
              <a:rPr lang="pt-PT" dirty="0" smtClean="0"/>
              <a:t>&lt;ultimo nome&gt;, &lt;primeiro nome&gt;</a:t>
            </a:r>
          </a:p>
          <a:p>
            <a:r>
              <a:rPr lang="pt-PT" dirty="0"/>
              <a:t>Se for o nome do utilizador for “John Doe” deve imprimir “Doe, John”.</a:t>
            </a:r>
          </a:p>
          <a:p>
            <a:endParaRPr lang="pt-PT" dirty="0" smtClean="0"/>
          </a:p>
          <a:p>
            <a:r>
              <a:rPr lang="pt-PT" dirty="0" smtClean="0"/>
              <a:t>Considere que o nome pode ter mais do que 2 nomes, nesse caso pretendemos obter o mesmo output, exemplo “António Jorge Vaz” deve mostrar “Vaz, António”</a:t>
            </a:r>
          </a:p>
          <a:p>
            <a:endParaRPr lang="pt-PT" dirty="0" smtClean="0"/>
          </a:p>
          <a:p>
            <a:r>
              <a:rPr lang="pt-PT" b="1" dirty="0" smtClean="0"/>
              <a:t>b)</a:t>
            </a:r>
            <a:r>
              <a:rPr lang="pt-PT" dirty="0" smtClean="0"/>
              <a:t> Caso o nome introduzido seja de facto “John Doe” imprima a seguinte mensagem “Elou </a:t>
            </a:r>
            <a:r>
              <a:rPr lang="pt-PT" dirty="0" err="1" smtClean="0"/>
              <a:t>Jone</a:t>
            </a:r>
            <a:r>
              <a:rPr lang="pt-PT" dirty="0" smtClean="0"/>
              <a:t> </a:t>
            </a:r>
            <a:r>
              <a:rPr lang="pt-PT" dirty="0" err="1" smtClean="0"/>
              <a:t>doue</a:t>
            </a:r>
            <a:r>
              <a:rPr lang="pt-PT" dirty="0" smtClean="0"/>
              <a:t> au ar </a:t>
            </a:r>
            <a:r>
              <a:rPr lang="pt-PT" dirty="0" err="1" smtClean="0"/>
              <a:t>iu</a:t>
            </a:r>
            <a:r>
              <a:rPr lang="pt-PT" dirty="0" smtClean="0"/>
              <a:t>?”</a:t>
            </a:r>
          </a:p>
          <a:p>
            <a:endParaRPr lang="pt-PT" dirty="0" smtClean="0"/>
          </a:p>
          <a:p>
            <a:r>
              <a:rPr lang="pt-PT" b="1" dirty="0" smtClean="0"/>
              <a:t>c)</a:t>
            </a:r>
            <a:r>
              <a:rPr lang="pt-PT" dirty="0" smtClean="0"/>
              <a:t> Considere que caso  o utilizador insira o nome em maiúsculas ou minúsculas o resultado final deve ser sempre mostrado em “</a:t>
            </a:r>
            <a:r>
              <a:rPr lang="pt-PT" b="1" i="1" dirty="0" err="1" smtClean="0"/>
              <a:t>camel</a:t>
            </a:r>
            <a:r>
              <a:rPr lang="pt-PT" b="1" i="1" dirty="0" smtClean="0"/>
              <a:t> case</a:t>
            </a:r>
            <a:r>
              <a:rPr lang="pt-PT" i="1" dirty="0" smtClean="0"/>
              <a:t>”</a:t>
            </a:r>
            <a:endParaRPr lang="pt-PT" i="1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54094865"/>
      </p:ext>
    </p:extLst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45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PT" b="1" dirty="0" smtClean="0"/>
              <a:t>14.1.</a:t>
            </a:r>
            <a:r>
              <a:rPr lang="pt-PT" dirty="0" smtClean="0"/>
              <a:t> Faça um programa que permita ler um valor inteiro, caso esse valor seja superior a 100 </a:t>
            </a:r>
            <a:r>
              <a:rPr lang="pt-PT" u="sng" dirty="0" smtClean="0"/>
              <a:t>imprima exatamente a seguinte mensagem </a:t>
            </a:r>
          </a:p>
          <a:p>
            <a:r>
              <a:rPr lang="pt-PT" b="1" dirty="0" smtClean="0"/>
              <a:t>“sem ‘(‘sim com um “s”, e não, não é um erro’)’”</a:t>
            </a:r>
          </a:p>
          <a:p>
            <a:endParaRPr lang="pt-PT" dirty="0"/>
          </a:p>
          <a:p>
            <a:r>
              <a:rPr lang="pt-PT" b="1" dirty="0" smtClean="0"/>
              <a:t>14.2</a:t>
            </a:r>
            <a:r>
              <a:rPr lang="pt-PT" dirty="0" smtClean="0"/>
              <a:t> Permita ler um valor decimal e caso seja superior a 3,14159265359 imprima a mensagem “gr8 th4n PI”;</a:t>
            </a:r>
          </a:p>
          <a:p>
            <a:endParaRPr lang="pt-PT" dirty="0"/>
          </a:p>
          <a:p>
            <a:r>
              <a:rPr lang="pt-PT" b="1" dirty="0" smtClean="0"/>
              <a:t>14.3</a:t>
            </a:r>
            <a:r>
              <a:rPr lang="pt-PT" dirty="0" smtClean="0"/>
              <a:t> Permita ler uma </a:t>
            </a:r>
            <a:r>
              <a:rPr lang="pt-PT" dirty="0" err="1" smtClean="0"/>
              <a:t>string</a:t>
            </a:r>
            <a:r>
              <a:rPr lang="pt-PT" dirty="0" smtClean="0"/>
              <a:t> e caso a </a:t>
            </a:r>
            <a:r>
              <a:rPr lang="pt-PT" dirty="0" err="1" smtClean="0"/>
              <a:t>string</a:t>
            </a:r>
            <a:r>
              <a:rPr lang="pt-PT" dirty="0" smtClean="0"/>
              <a:t> tiver o caracter “P” (em </a:t>
            </a:r>
            <a:r>
              <a:rPr lang="pt-PT" dirty="0" err="1" smtClean="0"/>
              <a:t>maíscula</a:t>
            </a:r>
            <a:r>
              <a:rPr lang="pt-PT" dirty="0" smtClean="0"/>
              <a:t> apenas) deve imprimir a mensagem </a:t>
            </a:r>
          </a:p>
          <a:p>
            <a:r>
              <a:rPr lang="pt-PT" dirty="0" smtClean="0"/>
              <a:t>“</a:t>
            </a:r>
            <a:r>
              <a:rPr lang="pt-PT" dirty="0" err="1" smtClean="0"/>
              <a:t>found</a:t>
            </a:r>
            <a:r>
              <a:rPr lang="pt-PT" dirty="0" smtClean="0"/>
              <a:t> a P” + X + “ times” // X é o número de vezes </a:t>
            </a:r>
            <a:r>
              <a:rPr lang="pt-PT" smtClean="0"/>
              <a:t>que 				      //aparece </a:t>
            </a:r>
            <a:r>
              <a:rPr lang="pt-PT" dirty="0" smtClean="0"/>
              <a:t>o “P” na </a:t>
            </a:r>
            <a:r>
              <a:rPr lang="pt-PT" dirty="0" err="1" smtClean="0"/>
              <a:t>string</a:t>
            </a:r>
            <a:endParaRPr lang="pt-PT" dirty="0" smtClean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97988728"/>
      </p:ext>
    </p:extLst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46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pt-PT" b="1" dirty="0" smtClean="0"/>
              <a:t>15.</a:t>
            </a:r>
            <a:r>
              <a:rPr lang="pt-PT" dirty="0" smtClean="0"/>
              <a:t> Elabore um programa que aceite 3 parâmetros passados pela consola, o primeiro um inteiro, o segundo um valor decimal e por fim o ultimo parâmetro deve ser uma </a:t>
            </a:r>
            <a:r>
              <a:rPr lang="pt-PT" dirty="0" err="1" smtClean="0"/>
              <a:t>String</a:t>
            </a:r>
            <a:r>
              <a:rPr lang="pt-PT" dirty="0" smtClean="0"/>
              <a:t>.</a:t>
            </a:r>
          </a:p>
          <a:p>
            <a:endParaRPr lang="pt-PT" dirty="0"/>
          </a:p>
          <a:p>
            <a:r>
              <a:rPr lang="pt-PT" dirty="0" smtClean="0"/>
              <a:t>Imprima cada um dos parâmetros colocando o caracter ‘-’ antes e depois do valor a ser impresso.</a:t>
            </a:r>
          </a:p>
          <a:p>
            <a:endParaRPr lang="pt-PT" dirty="0"/>
          </a:p>
          <a:p>
            <a:r>
              <a:rPr lang="pt-PT" dirty="0" smtClean="0"/>
              <a:t>Exemplo: para um valor do primeiro parâmetro = 5, deve imprimir “Primeiro parâmetro -5-”.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1706364"/>
      </p:ext>
    </p:extLst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47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pt-PT" b="1" dirty="0" smtClean="0"/>
              <a:t>16.</a:t>
            </a:r>
            <a:r>
              <a:rPr lang="pt-PT" dirty="0" smtClean="0"/>
              <a:t> Faça um programa que peça ao utilizador 10 valores inteiros e os guarde num </a:t>
            </a:r>
            <a:r>
              <a:rPr lang="pt-PT" dirty="0" err="1" smtClean="0"/>
              <a:t>array</a:t>
            </a:r>
            <a:r>
              <a:rPr lang="pt-PT" dirty="0" smtClean="0"/>
              <a:t>, de seguida faça: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dirty="0" smtClean="0"/>
              <a:t>Mostre o </a:t>
            </a:r>
            <a:r>
              <a:rPr lang="pt-PT" dirty="0" err="1" smtClean="0"/>
              <a:t>array</a:t>
            </a:r>
            <a:r>
              <a:rPr lang="pt-PT" dirty="0" smtClean="0"/>
              <a:t> da primeira posição até à ultima numa única linha, separando cada elemento por vírgulas. Ex.: 	4, 5, 7, 2, 1, 7, 6, 5, 6, 8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dirty="0" smtClean="0"/>
              <a:t>Mostre o </a:t>
            </a:r>
            <a:r>
              <a:rPr lang="pt-PT" dirty="0" err="1" smtClean="0"/>
              <a:t>array</a:t>
            </a:r>
            <a:r>
              <a:rPr lang="pt-PT" dirty="0" smtClean="0"/>
              <a:t> pela ordem inversa de introdução, ou seja, para o exemplo acima deve ficar: Ex.: </a:t>
            </a:r>
          </a:p>
          <a:p>
            <a:r>
              <a:rPr lang="pt-PT" dirty="0" smtClean="0"/>
              <a:t>	8, 6, 5, 6, 7, 1, 2, 7, 5, 4</a:t>
            </a:r>
          </a:p>
          <a:p>
            <a:endParaRPr lang="pt-PT" b="1" dirty="0" smtClean="0"/>
          </a:p>
          <a:p>
            <a:r>
              <a:rPr lang="pt-PT" b="1" dirty="0" smtClean="0"/>
              <a:t>b)</a:t>
            </a:r>
            <a:r>
              <a:rPr lang="pt-PT" dirty="0" smtClean="0"/>
              <a:t> Imprima apenas valores superiores a 2 e inferiores a 8;</a:t>
            </a:r>
            <a:endParaRPr lang="pt-PT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70561617"/>
      </p:ext>
    </p:extLst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48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PT" b="1" dirty="0" smtClean="0"/>
              <a:t>17.</a:t>
            </a:r>
            <a:r>
              <a:rPr lang="pt-PT" dirty="0" smtClean="0"/>
              <a:t> Altere o programa anterior para que imprima o somatório, média, o valor maior e o valor menor do </a:t>
            </a:r>
            <a:r>
              <a:rPr lang="pt-PT" dirty="0" err="1" smtClean="0"/>
              <a:t>array</a:t>
            </a:r>
            <a:r>
              <a:rPr lang="pt-PT" dirty="0" smtClean="0"/>
              <a:t>.</a:t>
            </a:r>
          </a:p>
          <a:p>
            <a:endParaRPr lang="pt-PT" dirty="0"/>
          </a:p>
          <a:p>
            <a:r>
              <a:rPr lang="pt-PT" b="1" dirty="0" smtClean="0"/>
              <a:t>18.</a:t>
            </a:r>
            <a:r>
              <a:rPr lang="pt-PT" dirty="0" smtClean="0"/>
              <a:t> Crie um programa que permita imprimir os primeiros N números pares, guarde esses números num </a:t>
            </a:r>
            <a:r>
              <a:rPr lang="pt-PT" dirty="0" err="1" smtClean="0"/>
              <a:t>array</a:t>
            </a:r>
            <a:r>
              <a:rPr lang="pt-PT" dirty="0" smtClean="0"/>
              <a:t>. Crie também um outro </a:t>
            </a:r>
            <a:r>
              <a:rPr lang="pt-PT" dirty="0" err="1" smtClean="0"/>
              <a:t>array</a:t>
            </a:r>
            <a:r>
              <a:rPr lang="pt-PT" dirty="0" smtClean="0"/>
              <a:t> que guarde os números impares.</a:t>
            </a:r>
          </a:p>
          <a:p>
            <a:endParaRPr lang="pt-PT" dirty="0"/>
          </a:p>
          <a:p>
            <a:r>
              <a:rPr lang="pt-PT" dirty="0" smtClean="0"/>
              <a:t>O N deve ser um valor passado por parâmetro para o programa, deve ser um parâmetro de entrada fornecido na linha de comandos.</a:t>
            </a:r>
          </a:p>
          <a:p>
            <a:endParaRPr lang="pt-PT" dirty="0"/>
          </a:p>
          <a:p>
            <a:r>
              <a:rPr lang="pt-PT" b="1" dirty="0" smtClean="0"/>
              <a:t>b)</a:t>
            </a:r>
            <a:r>
              <a:rPr lang="pt-PT" dirty="0" smtClean="0"/>
              <a:t> Imprima o  somatório da multiplicação do </a:t>
            </a:r>
            <a:r>
              <a:rPr lang="pt-PT" dirty="0" err="1" smtClean="0"/>
              <a:t>array</a:t>
            </a:r>
            <a:r>
              <a:rPr lang="pt-PT" dirty="0" smtClean="0"/>
              <a:t> de pares vezes pelo </a:t>
            </a:r>
            <a:r>
              <a:rPr lang="pt-PT" dirty="0" err="1" smtClean="0"/>
              <a:t>array</a:t>
            </a:r>
            <a:r>
              <a:rPr lang="pt-PT" dirty="0" smtClean="0"/>
              <a:t> de impares. Exemplo:</a:t>
            </a:r>
          </a:p>
          <a:p>
            <a:r>
              <a:rPr lang="pt-PT" dirty="0" err="1" smtClean="0"/>
              <a:t>arrPares</a:t>
            </a:r>
            <a:r>
              <a:rPr lang="pt-PT" dirty="0" smtClean="0"/>
              <a:t>[i] * </a:t>
            </a:r>
            <a:r>
              <a:rPr lang="pt-PT" dirty="0" err="1" smtClean="0"/>
              <a:t>arrImpares</a:t>
            </a:r>
            <a:r>
              <a:rPr lang="pt-PT" dirty="0" smtClean="0"/>
              <a:t>[i] + </a:t>
            </a:r>
          </a:p>
          <a:p>
            <a:r>
              <a:rPr lang="pt-PT" dirty="0" err="1" smtClean="0"/>
              <a:t>arrPares</a:t>
            </a:r>
            <a:r>
              <a:rPr lang="pt-PT" dirty="0" smtClean="0"/>
              <a:t>[i+1] </a:t>
            </a:r>
            <a:r>
              <a:rPr lang="pt-PT" dirty="0"/>
              <a:t>* </a:t>
            </a:r>
            <a:r>
              <a:rPr lang="pt-PT" dirty="0" err="1" smtClean="0"/>
              <a:t>arrImpares</a:t>
            </a:r>
            <a:r>
              <a:rPr lang="pt-PT" dirty="0" smtClean="0"/>
              <a:t>[i+1] …</a:t>
            </a:r>
          </a:p>
          <a:p>
            <a:r>
              <a:rPr lang="pt-PT" dirty="0" err="1" smtClean="0"/>
              <a:t>arrPares</a:t>
            </a:r>
            <a:r>
              <a:rPr lang="pt-PT" dirty="0" smtClean="0"/>
              <a:t>[N-1</a:t>
            </a:r>
            <a:r>
              <a:rPr lang="pt-PT" dirty="0"/>
              <a:t>] * </a:t>
            </a:r>
            <a:r>
              <a:rPr lang="pt-PT" dirty="0" err="1" smtClean="0"/>
              <a:t>arrImpares</a:t>
            </a:r>
            <a:r>
              <a:rPr lang="pt-PT" dirty="0" smtClean="0"/>
              <a:t>[N-1</a:t>
            </a:r>
            <a:r>
              <a:rPr lang="pt-PT" dirty="0"/>
              <a:t>]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448722627"/>
      </p:ext>
    </p:extLst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49</a:t>
            </a:fld>
            <a:endParaRPr 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endParaRPr lang="pt-PT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/>
              <a:t>Exercícios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82746197"/>
      </p:ext>
    </p:extLst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ATEC_Template_pt">
  <a:themeElements>
    <a:clrScheme name="Volkswagen">
      <a:dk1>
        <a:srgbClr val="33434C"/>
      </a:dk1>
      <a:lt1>
        <a:srgbClr val="FFFFFF"/>
      </a:lt1>
      <a:dk2>
        <a:srgbClr val="73B1DD"/>
      </a:dk2>
      <a:lt2>
        <a:srgbClr val="CFD7D9"/>
      </a:lt2>
      <a:accent1>
        <a:srgbClr val="003C65"/>
      </a:accent1>
      <a:accent2>
        <a:srgbClr val="2274AC"/>
      </a:accent2>
      <a:accent3>
        <a:srgbClr val="8994A0"/>
      </a:accent3>
      <a:accent4>
        <a:srgbClr val="005D4D"/>
      </a:accent4>
      <a:accent5>
        <a:srgbClr val="730019"/>
      </a:accent5>
      <a:accent6>
        <a:srgbClr val="FF871F"/>
      </a:accent6>
      <a:hlink>
        <a:srgbClr val="33434C"/>
      </a:hlink>
      <a:folHlink>
        <a:srgbClr val="8994A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>
          <a:defRPr sz="2100"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VW_Basic_Template_en</Template>
  <TotalTime>0</TotalTime>
  <Words>2915</Words>
  <Application>Microsoft Office PowerPoint</Application>
  <PresentationFormat>A4 Paper (210x297 mm)</PresentationFormat>
  <Paragraphs>674</Paragraphs>
  <Slides>49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SimSun</vt:lpstr>
      <vt:lpstr>Arial</vt:lpstr>
      <vt:lpstr>Calibri</vt:lpstr>
      <vt:lpstr>Courier New</vt:lpstr>
      <vt:lpstr>Times New Roman</vt:lpstr>
      <vt:lpstr>VW Headline OT-Book</vt:lpstr>
      <vt:lpstr>ATEC_Template_pt</vt:lpstr>
      <vt:lpstr>Fundamentos de Linguagem Java  UFCD 0789</vt:lpstr>
      <vt:lpstr>Apresentação da UFCD</vt:lpstr>
      <vt:lpstr>Introdução ao JAVA</vt:lpstr>
      <vt:lpstr>Introdução ao JAVA</vt:lpstr>
      <vt:lpstr>Introdução ao JAVA</vt:lpstr>
      <vt:lpstr>Introdução ao JAVA</vt:lpstr>
      <vt:lpstr>Estrutura básica de um programa</vt:lpstr>
      <vt:lpstr>Estrutura básica de um programa</vt:lpstr>
      <vt:lpstr>Compilação e execução</vt:lpstr>
      <vt:lpstr>Pré-requisitos e IDE</vt:lpstr>
      <vt:lpstr>Tipos de dados</vt:lpstr>
      <vt:lpstr>Operadores</vt:lpstr>
      <vt:lpstr>Operadores</vt:lpstr>
      <vt:lpstr>Operadores Incremento e Decremento </vt:lpstr>
      <vt:lpstr>Precedência</vt:lpstr>
      <vt:lpstr>Instruções IF-ELSE</vt:lpstr>
      <vt:lpstr>Instruções IF-ELSE exemplo</vt:lpstr>
      <vt:lpstr>Instruções Switch</vt:lpstr>
      <vt:lpstr>Instruções Switch exemplo</vt:lpstr>
      <vt:lpstr>Instruções While</vt:lpstr>
      <vt:lpstr>Instruções Do-While</vt:lpstr>
      <vt:lpstr>Instruções For</vt:lpstr>
      <vt:lpstr>Instrução break</vt:lpstr>
      <vt:lpstr>Instrução continue</vt:lpstr>
      <vt:lpstr>Exercícios</vt:lpstr>
      <vt:lpstr>Exercícios</vt:lpstr>
      <vt:lpstr>Exercícios</vt:lpstr>
      <vt:lpstr>Exercícios</vt:lpstr>
      <vt:lpstr>Exercícios</vt:lpstr>
      <vt:lpstr>Exercícios</vt:lpstr>
      <vt:lpstr>Exercícios</vt:lpstr>
      <vt:lpstr>Strings</vt:lpstr>
      <vt:lpstr>Strings</vt:lpstr>
      <vt:lpstr>Strings - operações</vt:lpstr>
      <vt:lpstr>Strings - operações</vt:lpstr>
      <vt:lpstr>Strings - operações</vt:lpstr>
      <vt:lpstr>Strings - buffer</vt:lpstr>
      <vt:lpstr>Offline Javadoc</vt:lpstr>
      <vt:lpstr>Arrays</vt:lpstr>
      <vt:lpstr>Arrays – tipos primitivos</vt:lpstr>
      <vt:lpstr>Arrays – referências</vt:lpstr>
      <vt:lpstr>Arrays – multidimensionais</vt:lpstr>
      <vt:lpstr>Exercícios</vt:lpstr>
      <vt:lpstr>Exercícios</vt:lpstr>
      <vt:lpstr>Exercícios</vt:lpstr>
      <vt:lpstr>Exercícios</vt:lpstr>
      <vt:lpstr>Exercícios</vt:lpstr>
      <vt:lpstr>Exercícios</vt:lpstr>
      <vt:lpstr>Exercícios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2013-03-13T09:54:52Z</dcterms:created>
  <dcterms:modified xsi:type="dcterms:W3CDTF">2014-12-12T18:07:40Z</dcterms:modified>
</cp:coreProperties>
</file>